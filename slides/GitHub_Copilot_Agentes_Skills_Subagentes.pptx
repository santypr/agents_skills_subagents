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69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42029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https://docs.github.com/en/copilot/concepts/agents/about-agent-skills
Visual on this slide was generated with Microsoft Copilot.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https://awesome-copilot.github.com/learning-hub/agents-and-subagents/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https://docs.github.com/en/copilot/concepts/agents/about-agent-skills
- https://awesome-copilot.github.com/learning-hub/agents-and-subagents/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https://docs.github.com/en/copilot/how-tos/copilot-sdk/features/custom-agents
Visual on this slide was generated with Microsoft Copilot.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https://docs.github.com/en/copilot/how-tos/copilot-sdk/features/custom-agents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https://docs.github.com/en/copilot/concepts/agents/about-agent-skills
Visual on this slide was generated with Microsoft Copilot.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https://docs.github.com/en/copilot/concepts/agents/about-agent-skills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https://awesome-copilot.github.com/learning-hub/agents-and-subagents/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https://docs.github.com/en/copilot/concepts/agents/about-agent-skills
- https://awesome-copilot.github.com/learning-hub/agents-and-subagents/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https://awesome-copilot.github.com/learning-hub/agents-and-subagents/
- https://docs.github.com/en/copilot/concepts/agents/about-agent-skills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https://docs.github.com/en/copilot/how-tos/copilot-sdk/features/custom-agents
Visual on this slide was generated with Microsoft Copilot.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https://docs.github.com/en/copilot/how-tos/copilot-sdk/features/custom-agents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https://docs.github.com/en/copilot/concepts/agents/about-agent-skills
- https://awesome-copilot.github.com/learning-hub/agents-and-subagents/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9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502920" y="6492240"/>
            <a:ext cx="6583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40">
                <a:solidFill>
                  <a:srgbClr val="696F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COPILOT · AGENTES, SKILLS Y SUBAGENTES</a:t>
            </a:r>
            <a:endParaRPr lang="en-US" sz="800"/>
          </a:p>
        </p:txBody>
      </p:sp>
      <p:sp>
        <p:nvSpPr>
          <p:cNvPr id="4" name="Text 2"/>
          <p:cNvSpPr/>
          <p:nvPr/>
        </p:nvSpPr>
        <p:spPr>
          <a:xfrm>
            <a:off x="6400800" y="6492240"/>
            <a:ext cx="5257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696F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SANTIAGO PORRAS RODRÍGUEZ Y EMILIANO MONTESDEOCA</a:t>
            </a:r>
            <a:endParaRPr lang="en-US" sz="8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pic>
        <p:nvPicPr>
          <p:cNvPr id="2" name="Image 0" descr="/mnt/data/2261dc0a3f.png"/>
          <p:cNvPicPr>
            <a:picLocks noChangeAspect="1"/>
          </p:cNvPicPr>
          <p:nvPr/>
        </p:nvPicPr>
        <p:blipFill>
          <a:blip r:embed="rId3"/>
          <a:srcRect t="7811" b="781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60A">
              <a:alpha val="7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7040880" cy="6858000"/>
          </a:xfrm>
          <a:prstGeom prst="rect">
            <a:avLst/>
          </a:prstGeom>
          <a:solidFill>
            <a:srgbClr val="05060A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Shape 2"/>
          <p:cNvSpPr/>
          <p:nvPr/>
        </p:nvSpPr>
        <p:spPr>
          <a:xfrm>
            <a:off x="640080" y="530352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6D28D9">
              <a:alpha val="88000"/>
            </a:srgbClr>
          </a:solidFill>
          <a:ln w="12700">
            <a:solidFill>
              <a:srgbClr val="6D28D9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3"/>
          <p:cNvSpPr/>
          <p:nvPr/>
        </p:nvSpPr>
        <p:spPr>
          <a:xfrm>
            <a:off x="640080" y="612648"/>
            <a:ext cx="2377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7F8FC"/>
                </a:solidFill>
              </a:rPr>
              <a:t>GITHUB COPILOT · CHARLA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61264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7F8FC"/>
                </a:solidFill>
              </a:rPr>
              <a:t>Tu próximo compañero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7F8FC"/>
                </a:solidFill>
              </a:rPr>
              <a:t>de equipo será un agente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58368" y="2971800"/>
            <a:ext cx="5257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8DCED"/>
                </a:solidFill>
              </a:rPr>
              <a:t>Agentes, skills y subagentes: qué son, en qué se diferencian y cuándo crear cada uno.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658368" y="5989320"/>
            <a:ext cx="5669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D3EE"/>
                </a:solidFill>
              </a:rPr>
              <a:t>Santiago Porras Rodríguez  ·  Software &amp; Cloud Architect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  <p:sp>
        <p:nvSpPr>
          <p:cNvPr id="26" name="Emiliano Montesdeoca"/>
          <p:cNvSpPr/>
          <p:nvPr/>
        </p:nvSpPr>
        <p:spPr>
          <a:xfrm>
            <a:off x="658368" y="6309360"/>
            <a:ext cx="5669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22D3EE"/>
                </a:solidFill>
              </a:rPr>
              <a:t>Emiliano Montesdeoca  ·  Cloud Architect &amp; Team Lead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2D3EE"/>
                </a:solidFill>
              </a:rPr>
              <a:t>01 · CAMBIO DE PARADIGMA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18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7F8FC"/>
                </a:solidFill>
              </a:rPr>
              <a:t>Copilot ya no es solo autocompletado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24358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B1C5"/>
                </a:solidFill>
              </a:rPr>
              <a:t>Estamos pasando de pedir fragmentos de código a diseñar sistemas de trabajo para agentes.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1691640" cy="1005840"/>
          </a:xfrm>
          <a:prstGeom prst="roundRect">
            <a:avLst>
              <a:gd name="adj" fmla="val 10909"/>
            </a:avLst>
          </a:prstGeom>
          <a:solidFill>
            <a:srgbClr val="1B2032"/>
          </a:solidFill>
          <a:ln w="19050">
            <a:solidFill>
              <a:srgbClr val="AAB1C5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13232" y="2459736"/>
            <a:ext cx="15453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AUTOCOMPLETADO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Predice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350008" y="2834640"/>
            <a:ext cx="502920" cy="1"/>
          </a:xfrm>
          <a:prstGeom prst="line">
            <a:avLst/>
          </a:prstGeom>
          <a:noFill/>
          <a:ln w="20320">
            <a:solidFill>
              <a:srgbClr val="2A314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2926080" y="2331720"/>
            <a:ext cx="1691640" cy="1005840"/>
          </a:xfrm>
          <a:prstGeom prst="roundRect">
            <a:avLst>
              <a:gd name="adj" fmla="val 10909"/>
            </a:avLst>
          </a:prstGeom>
          <a:solidFill>
            <a:srgbClr val="1B2032"/>
          </a:solidFill>
          <a:ln w="19050">
            <a:solidFill>
              <a:srgbClr val="22D3EE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2999232" y="2459736"/>
            <a:ext cx="15453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CHAT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Responde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36008" y="2834640"/>
            <a:ext cx="502920" cy="1"/>
          </a:xfrm>
          <a:prstGeom prst="line">
            <a:avLst/>
          </a:prstGeom>
          <a:noFill/>
          <a:ln w="20320">
            <a:solidFill>
              <a:srgbClr val="2A314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5212080" y="2331720"/>
            <a:ext cx="1691640" cy="1005840"/>
          </a:xfrm>
          <a:prstGeom prst="roundRect">
            <a:avLst>
              <a:gd name="adj" fmla="val 10909"/>
            </a:avLst>
          </a:prstGeom>
          <a:solidFill>
            <a:srgbClr val="1B2032"/>
          </a:solidFill>
          <a:ln w="19050">
            <a:solidFill>
              <a:srgbClr val="8B5CF6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5285232" y="2459736"/>
            <a:ext cx="15453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MODO AGENTE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Actúa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922008" y="2834640"/>
            <a:ext cx="502920" cy="1"/>
          </a:xfrm>
          <a:prstGeom prst="line">
            <a:avLst/>
          </a:prstGeom>
          <a:noFill/>
          <a:ln w="20320">
            <a:solidFill>
              <a:srgbClr val="2A314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7498080" y="2331720"/>
            <a:ext cx="1691640" cy="1005840"/>
          </a:xfrm>
          <a:prstGeom prst="roundRect">
            <a:avLst>
              <a:gd name="adj" fmla="val 10909"/>
            </a:avLst>
          </a:prstGeom>
          <a:solidFill>
            <a:srgbClr val="1B2032"/>
          </a:solidFill>
          <a:ln w="19050">
            <a:solidFill>
              <a:srgbClr val="34D399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7571232" y="2459736"/>
            <a:ext cx="15453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ESPECIALIZACIÓN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Aprende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208008" y="2834640"/>
            <a:ext cx="502920" cy="1"/>
          </a:xfrm>
          <a:prstGeom prst="line">
            <a:avLst/>
          </a:prstGeom>
          <a:noFill/>
          <a:ln w="20320">
            <a:solidFill>
              <a:srgbClr val="2A314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9784080" y="2331720"/>
            <a:ext cx="1691640" cy="1005840"/>
          </a:xfrm>
          <a:prstGeom prst="roundRect">
            <a:avLst>
              <a:gd name="adj" fmla="val 10909"/>
            </a:avLst>
          </a:prstGeom>
          <a:solidFill>
            <a:srgbClr val="1B2032"/>
          </a:solidFill>
          <a:ln w="19050">
            <a:solidFill>
              <a:srgbClr val="FBBF24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9857232" y="2459736"/>
            <a:ext cx="15453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ORQUESTACIÓN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Delega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1605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7F8FC"/>
                </a:solidFill>
              </a:rPr>
              <a:t>La nueva habilidad del desarrollador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0080" y="4572000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AB1C5"/>
                </a:solidFill>
              </a:rPr>
              <a:t>No es escribir prompts cada vez más largos. Es diseñar contexto, capacidades, responsabilidades y límites.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863840" y="397764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6D28D9">
              <a:alpha val="58000"/>
            </a:srgbClr>
          </a:solidFill>
          <a:ln w="1905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20"/>
          <p:cNvSpPr/>
          <p:nvPr/>
        </p:nvSpPr>
        <p:spPr>
          <a:xfrm>
            <a:off x="8138160" y="431596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7F8FC"/>
                </a:solidFill>
              </a:rPr>
              <a:t>¿Qué crearías para revisar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b="1" dirty="0">
                <a:solidFill>
                  <a:srgbClr val="F7F8FC"/>
                </a:solidFill>
              </a:rPr>
              <a:t>la seguridad de una API?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2D3EE"/>
                </a:solidFill>
              </a:rPr>
              <a:t>02 · MAPA MENTAL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18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7F8FC"/>
                </a:solidFill>
              </a:rPr>
              <a:t>Cuatro piezas que no son intercambiables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24358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B1C5"/>
                </a:solidFill>
              </a:rPr>
              <a:t>Cada una resuelve un tipo distinto de problema.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2560320" cy="3200400"/>
          </a:xfrm>
          <a:prstGeom prst="roundRect">
            <a:avLst>
              <a:gd name="adj" fmla="val 2857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64008" cy="3200400"/>
          </a:xfrm>
          <a:prstGeom prst="rect">
            <a:avLst/>
          </a:prstGeom>
          <a:solidFill>
            <a:srgbClr val="AAB1C5"/>
          </a:solidFill>
          <a:ln w="12700">
            <a:solidFill>
              <a:srgbClr val="AAB1C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41248" y="1993392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INSTRUCCIONES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395728"/>
            <a:ext cx="2194560" cy="2487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150" dirty="0">
                <a:solidFill>
                  <a:srgbClr val="AAB1C5"/>
                </a:solidFill>
              </a:rPr>
              <a:t>Reglas y convenciones estables.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Qué debe respetar Copilot.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Contexto del proyecto.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29000" y="1828800"/>
            <a:ext cx="2560320" cy="3200400"/>
          </a:xfrm>
          <a:prstGeom prst="roundRect">
            <a:avLst>
              <a:gd name="adj" fmla="val 2857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3429000" y="1828800"/>
            <a:ext cx="64008" cy="32004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3630168" y="1993392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SKILL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30168" y="2395728"/>
            <a:ext cx="2194560" cy="2487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150" dirty="0">
                <a:solidFill>
                  <a:srgbClr val="AAB1C5"/>
                </a:solidFill>
              </a:rPr>
              <a:t>Procedimiento reutilizable.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Cómo realizar una tarea.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Puede incluir scripts y recursos.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17920" y="1828800"/>
            <a:ext cx="2560320" cy="3200400"/>
          </a:xfrm>
          <a:prstGeom prst="roundRect">
            <a:avLst>
              <a:gd name="adj" fmla="val 2857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6217920" y="1828800"/>
            <a:ext cx="64008" cy="32004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6419088" y="1993392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AGENTE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19088" y="2395728"/>
            <a:ext cx="2194560" cy="2487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150" dirty="0">
                <a:solidFill>
                  <a:srgbClr val="AAB1C5"/>
                </a:solidFill>
              </a:rPr>
              <a:t>Objetivo y responsabilidad.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Decide pasos y herramientas.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Mantiene el contexto amplio.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06840" y="1828800"/>
            <a:ext cx="2560320" cy="3200400"/>
          </a:xfrm>
          <a:prstGeom prst="roundRect">
            <a:avLst>
              <a:gd name="adj" fmla="val 2857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Shape 16"/>
          <p:cNvSpPr/>
          <p:nvPr/>
        </p:nvSpPr>
        <p:spPr>
          <a:xfrm>
            <a:off x="9006840" y="1828800"/>
            <a:ext cx="64008" cy="320040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9208008" y="1993392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SUBAGENTE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208008" y="2395728"/>
            <a:ext cx="2194560" cy="2487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150" dirty="0">
                <a:solidFill>
                  <a:srgbClr val="AAB1C5"/>
                </a:solidFill>
              </a:rPr>
              <a:t>Trabajo temporal delegado.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Contexto aislado y estrecho.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Devuelve resultados al principal.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51560" y="525780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AAB1C5"/>
                </a:solidFill>
              </a:rPr>
              <a:t>REGLAS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840480" y="525780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34D399"/>
                </a:solidFill>
              </a:rPr>
              <a:t>CAPACIDAD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46520" y="525780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50" dirty="0">
                <a:solidFill>
                  <a:srgbClr val="8B5CF6"/>
                </a:solidFill>
              </a:rPr>
              <a:t>RESPONSABILIDAD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418320" y="525780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22D3EE"/>
                </a:solidFill>
              </a:rPr>
              <a:t>DELEGACIÓN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pic>
        <p:nvPicPr>
          <p:cNvPr id="27" name="Imagen 26">
            <a:extLst>
              <a:ext uri="{FF2B5EF4-FFF2-40B4-BE49-F238E27FC236}">
                <a16:creationId xmlns:a16="http://schemas.microsoft.com/office/drawing/2014/main" id="{E7CCDCB1-A7FF-5B79-F4D5-D2F70801AC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4145" y="3989029"/>
            <a:ext cx="1934038" cy="96701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8" name="Imagen 27" descr="The Architect In The Matrix: Who Is He and What Role Does He Play ...">
            <a:extLst>
              <a:ext uri="{FF2B5EF4-FFF2-40B4-BE49-F238E27FC236}">
                <a16:creationId xmlns:a16="http://schemas.microsoft.com/office/drawing/2014/main" id="{4E8F3D59-0EA8-2AEE-1FE1-239A78E3EC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5048" y="4044777"/>
            <a:ext cx="1520928" cy="85552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9" name="Imagen 28" descr="What Happened to The Keymaker | MATRIX EXPLAINED - YouTube">
            <a:extLst>
              <a:ext uri="{FF2B5EF4-FFF2-40B4-BE49-F238E27FC236}">
                <a16:creationId xmlns:a16="http://schemas.microsoft.com/office/drawing/2014/main" id="{131B5134-7BD9-27BB-8BDC-A1598EE0BC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9084" y="4068710"/>
            <a:ext cx="1435831" cy="80765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1" name="Imagen 30" descr="Matrix Wallpapers HD - Wallpaper Cave">
            <a:extLst>
              <a:ext uri="{FF2B5EF4-FFF2-40B4-BE49-F238E27FC236}">
                <a16:creationId xmlns:a16="http://schemas.microsoft.com/office/drawing/2014/main" id="{4E4F83D5-E6BF-3D8C-6BE7-CD5366AD99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9488" y="3989029"/>
            <a:ext cx="1241503" cy="93112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2D3EE"/>
                </a:solidFill>
              </a:rPr>
              <a:t>03 · PRIMERA CAPA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18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7F8FC"/>
                </a:solidFill>
              </a:rPr>
              <a:t>Instrucciones: las reglas del terreno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24358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B1C5"/>
                </a:solidFill>
              </a:rPr>
              <a:t>Antes de especializar Copilot, deja claras las convenciones que nunca debería negociar.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783080"/>
            <a:ext cx="4572000" cy="3566160"/>
          </a:xfrm>
          <a:prstGeom prst="roundRect">
            <a:avLst>
              <a:gd name="adj" fmla="val 2564"/>
            </a:avLst>
          </a:prstGeom>
          <a:solidFill>
            <a:srgbClr val="0E1220"/>
          </a:solidFill>
          <a:ln w="12700">
            <a:solidFill>
              <a:srgbClr val="2A314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960120" y="2148840"/>
            <a:ext cx="393192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9E0F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Este repositorio utiliza arquitectura hexagonal.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D9E0F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Los controladores no acceden directamente a Entity Framework.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D9E0F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Todos los endpoints incluyen pruebas de integración.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D9E0F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Los errores usan Problem Details.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715000" y="1828800"/>
            <a:ext cx="2514600" cy="1143000"/>
          </a:xfrm>
          <a:prstGeom prst="roundRect">
            <a:avLst>
              <a:gd name="adj" fmla="val 6400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5715000" y="1828800"/>
            <a:ext cx="64008" cy="114300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5916168" y="1993392"/>
            <a:ext cx="216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ÁMBITO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16168" y="2395728"/>
            <a:ext cx="214884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AAB1C5"/>
                </a:solidFill>
              </a:rPr>
              <a:t>Repositorio, organización o usuario.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458200" y="1828800"/>
            <a:ext cx="2514600" cy="1143000"/>
          </a:xfrm>
          <a:prstGeom prst="roundRect">
            <a:avLst>
              <a:gd name="adj" fmla="val 6400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" name="Shape 10"/>
          <p:cNvSpPr/>
          <p:nvPr/>
        </p:nvSpPr>
        <p:spPr>
          <a:xfrm>
            <a:off x="8458200" y="1828800"/>
            <a:ext cx="64008" cy="1143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8659368" y="1993392"/>
            <a:ext cx="216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NATURALEZA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659368" y="2395728"/>
            <a:ext cx="214884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AAB1C5"/>
                </a:solidFill>
              </a:rPr>
              <a:t>Estables y siempre aplicables.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715000" y="3246120"/>
            <a:ext cx="2514600" cy="1143000"/>
          </a:xfrm>
          <a:prstGeom prst="roundRect">
            <a:avLst>
              <a:gd name="adj" fmla="val 6400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Shape 14"/>
          <p:cNvSpPr/>
          <p:nvPr/>
        </p:nvSpPr>
        <p:spPr>
          <a:xfrm>
            <a:off x="5715000" y="3246120"/>
            <a:ext cx="64008" cy="1143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5916168" y="3410712"/>
            <a:ext cx="216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NO SON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16168" y="3813048"/>
            <a:ext cx="214884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AAB1C5"/>
                </a:solidFill>
              </a:rPr>
              <a:t>Un workflow completo ni un rol.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458200" y="3246120"/>
            <a:ext cx="2514600" cy="1143000"/>
          </a:xfrm>
          <a:prstGeom prst="roundRect">
            <a:avLst>
              <a:gd name="adj" fmla="val 6400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0" name="Shape 18"/>
          <p:cNvSpPr/>
          <p:nvPr/>
        </p:nvSpPr>
        <p:spPr>
          <a:xfrm>
            <a:off x="8458200" y="3246120"/>
            <a:ext cx="64008" cy="1143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8659368" y="3410712"/>
            <a:ext cx="216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PREGUNTA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659368" y="3813048"/>
            <a:ext cx="214884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AAB1C5"/>
                </a:solidFill>
              </a:rPr>
              <a:t>¿Cómo trabajamos aquí?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760720" y="48920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7F8FC"/>
                </a:solidFill>
              </a:rPr>
              <a:t>Base recomendada: instrucciones primero, especialización después.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2D3EE"/>
                </a:solidFill>
              </a:rPr>
              <a:t>04 · LA ENTIDAD QUE ACTÚA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18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7F8FC"/>
                </a:solidFill>
              </a:rPr>
              <a:t>Agente: objetivo, decisiones y herramientas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24358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B1C5"/>
                </a:solidFill>
              </a:rPr>
              <a:t>Un agente persigue un resultado, ajusta el plan y decide qué capacidad utilizar.</a:t>
            </a:r>
            <a:endParaRPr lang="en-US" sz="1400" dirty="0"/>
          </a:p>
        </p:txBody>
      </p:sp>
      <p:pic>
        <p:nvPicPr>
          <p:cNvPr id="5" name="Image 0" descr="/mnt/data/6e99a682bd.png"/>
          <p:cNvPicPr>
            <a:picLocks noChangeAspect="1"/>
          </p:cNvPicPr>
          <p:nvPr/>
        </p:nvPicPr>
        <p:blipFill>
          <a:blip r:embed="rId3"/>
          <a:srcRect l="13918" r="13918"/>
          <a:stretch/>
        </p:blipFill>
        <p:spPr>
          <a:xfrm>
            <a:off x="6858000" y="1691640"/>
            <a:ext cx="4800600" cy="4434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13232" y="1783080"/>
            <a:ext cx="420624" cy="420624"/>
          </a:xfrm>
          <a:prstGeom prst="ellipse">
            <a:avLst/>
          </a:prstGeom>
          <a:solidFill>
            <a:srgbClr val="8B5CF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/>
          <p:nvPr/>
        </p:nvSpPr>
        <p:spPr>
          <a:xfrm>
            <a:off x="713232" y="1874520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F8FC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325880" y="1810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F8FC"/>
                </a:solidFill>
              </a:rPr>
              <a:t>INTERPRETA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2788920" y="181051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AB1C5"/>
                </a:solidFill>
              </a:rPr>
              <a:t>Objetivo y contexto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13232" y="2606040"/>
            <a:ext cx="420624" cy="420624"/>
          </a:xfrm>
          <a:prstGeom prst="ellipse">
            <a:avLst/>
          </a:prstGeom>
          <a:solidFill>
            <a:srgbClr val="8B5CF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8"/>
          <p:cNvSpPr/>
          <p:nvPr/>
        </p:nvSpPr>
        <p:spPr>
          <a:xfrm>
            <a:off x="713232" y="2697480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F8FC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325880" y="263347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F8FC"/>
                </a:solidFill>
              </a:rPr>
              <a:t>PLANIFICA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2788920" y="263347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AB1C5"/>
                </a:solidFill>
              </a:rPr>
              <a:t>Pasos y dependencias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13232" y="3429000"/>
            <a:ext cx="420624" cy="420624"/>
          </a:xfrm>
          <a:prstGeom prst="ellipse">
            <a:avLst/>
          </a:prstGeom>
          <a:solidFill>
            <a:srgbClr val="8B5CF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2"/>
          <p:cNvSpPr/>
          <p:nvPr/>
        </p:nvSpPr>
        <p:spPr>
          <a:xfrm>
            <a:off x="713232" y="3520440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F8FC"/>
                </a:solidFill>
              </a:rPr>
              <a:t>3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325880" y="345643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F8FC"/>
                </a:solidFill>
              </a:rPr>
              <a:t>ACTÚA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2788920" y="345643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AB1C5"/>
                </a:solidFill>
              </a:rPr>
              <a:t>Herramientas y cambios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13232" y="4251960"/>
            <a:ext cx="420624" cy="420624"/>
          </a:xfrm>
          <a:prstGeom prst="ellipse">
            <a:avLst/>
          </a:prstGeom>
          <a:solidFill>
            <a:srgbClr val="22D3E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6"/>
          <p:cNvSpPr/>
          <p:nvPr/>
        </p:nvSpPr>
        <p:spPr>
          <a:xfrm>
            <a:off x="713232" y="4343400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F8FC"/>
                </a:solidFill>
              </a:rPr>
              <a:t>4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325880" y="427939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F8FC"/>
                </a:solidFill>
              </a:rPr>
              <a:t>OBSERVA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2788920" y="427939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AB1C5"/>
                </a:solidFill>
              </a:rPr>
              <a:t>Resultados y errores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713232" y="5074920"/>
            <a:ext cx="420624" cy="420624"/>
          </a:xfrm>
          <a:prstGeom prst="ellipse">
            <a:avLst/>
          </a:prstGeom>
          <a:solidFill>
            <a:srgbClr val="22D3E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Text 20"/>
          <p:cNvSpPr/>
          <p:nvPr/>
        </p:nvSpPr>
        <p:spPr>
          <a:xfrm>
            <a:off x="713232" y="5166360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F8FC"/>
                </a:solidFill>
              </a:rPr>
              <a:t>5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325880" y="510235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F8FC"/>
                </a:solidFill>
              </a:rPr>
              <a:t>AJUSTA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2788920" y="510235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AB1C5"/>
                </a:solidFill>
              </a:rPr>
              <a:t>Continúa o corrige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713232" y="5833872"/>
            <a:ext cx="5394960" cy="365760"/>
          </a:xfrm>
          <a:prstGeom prst="roundRect">
            <a:avLst>
              <a:gd name="adj" fmla="val 50000"/>
            </a:avLst>
          </a:prstGeom>
          <a:solidFill>
            <a:srgbClr val="6D28D9">
              <a:alpha val="88000"/>
            </a:srgbClr>
          </a:solidFill>
          <a:ln w="12700">
            <a:solidFill>
              <a:srgbClr val="6D28D9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4"/>
          <p:cNvSpPr/>
          <p:nvPr/>
        </p:nvSpPr>
        <p:spPr>
          <a:xfrm>
            <a:off x="713232" y="5916168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7F8FC"/>
                </a:solidFill>
              </a:rPr>
              <a:t>Crea un agente cuando necesites criterio y responsabilidad</a:t>
            </a:r>
            <a:endParaRPr lang="en-US" sz="105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2D3EE"/>
                </a:solidFill>
              </a:rPr>
              <a:t>05 · DECISIÓN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18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7F8FC"/>
                </a:solidFill>
              </a:rPr>
              <a:t>¿Cuándo merece existir un agente?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24358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B1C5"/>
                </a:solidFill>
              </a:rPr>
              <a:t>La identidad técnica debe justificar autonomía, herramientas o responsabilidades propias.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1783080"/>
            <a:ext cx="4983480" cy="868680"/>
          </a:xfrm>
          <a:prstGeom prst="roundRect">
            <a:avLst>
              <a:gd name="adj" fmla="val 10526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886968" y="1984248"/>
            <a:ext cx="457200" cy="45720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86968" y="2066544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27048" y="20391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7F8FC"/>
                </a:solidFill>
              </a:rPr>
              <a:t>Objetivo relativamente amplio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4983480" cy="868680"/>
          </a:xfrm>
          <a:prstGeom prst="roundRect">
            <a:avLst>
              <a:gd name="adj" fmla="val 10526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6464808" y="1984248"/>
            <a:ext cx="457200" cy="45720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6464808" y="2066544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104888" y="20391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7F8FC"/>
                </a:solidFill>
              </a:rPr>
              <a:t>Criterios propios de decisión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3017520"/>
            <a:ext cx="4983480" cy="868680"/>
          </a:xfrm>
          <a:prstGeom prst="roundRect">
            <a:avLst>
              <a:gd name="adj" fmla="val 10526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886968" y="3218688"/>
            <a:ext cx="457200" cy="45720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886968" y="3300984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✓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527048" y="32735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7F8FC"/>
                </a:solidFill>
              </a:rPr>
              <a:t>Herramientas o permisos específicos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63640" y="3017520"/>
            <a:ext cx="4983480" cy="868680"/>
          </a:xfrm>
          <a:prstGeom prst="roundRect">
            <a:avLst>
              <a:gd name="adj" fmla="val 10526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Shape 16"/>
          <p:cNvSpPr/>
          <p:nvPr/>
        </p:nvSpPr>
        <p:spPr>
          <a:xfrm>
            <a:off x="6464808" y="3218688"/>
            <a:ext cx="457200" cy="45720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6464808" y="3300984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104888" y="32735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7F8FC"/>
                </a:solidFill>
              </a:rPr>
              <a:t>Interacción directa con el usuario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85800" y="4251960"/>
            <a:ext cx="4983480" cy="868680"/>
          </a:xfrm>
          <a:prstGeom prst="roundRect">
            <a:avLst>
              <a:gd name="adj" fmla="val 10526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Shape 20"/>
          <p:cNvSpPr/>
          <p:nvPr/>
        </p:nvSpPr>
        <p:spPr>
          <a:xfrm>
            <a:off x="886968" y="4453128"/>
            <a:ext cx="457200" cy="45720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Text 21"/>
          <p:cNvSpPr/>
          <p:nvPr/>
        </p:nvSpPr>
        <p:spPr>
          <a:xfrm>
            <a:off x="886968" y="4535424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✓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527048" y="45079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7F8FC"/>
                </a:solidFill>
              </a:rPr>
              <a:t>Coordinación de varias actividades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263640" y="4251960"/>
            <a:ext cx="4983480" cy="868680"/>
          </a:xfrm>
          <a:prstGeom prst="roundRect">
            <a:avLst>
              <a:gd name="adj" fmla="val 10526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Shape 24"/>
          <p:cNvSpPr/>
          <p:nvPr/>
        </p:nvSpPr>
        <p:spPr>
          <a:xfrm>
            <a:off x="6464808" y="4453128"/>
            <a:ext cx="457200" cy="45720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5"/>
          <p:cNvSpPr/>
          <p:nvPr/>
        </p:nvSpPr>
        <p:spPr>
          <a:xfrm>
            <a:off x="6464808" y="4535424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✓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104888" y="45079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7F8FC"/>
                </a:solidFill>
              </a:rPr>
              <a:t>Comportamiento estable durante la sesión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85800" y="571500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D3EE"/>
                </a:solidFill>
              </a:rPr>
              <a:t>Ejemplos: Architecture Agent · Migration Agent · Security Review Agent · Documentation Agent</a:t>
            </a:r>
            <a:endParaRPr lang="en-US" sz="14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pic>
        <p:nvPicPr>
          <p:cNvPr id="32" name="Imagen 31">
            <a:extLst>
              <a:ext uri="{FF2B5EF4-FFF2-40B4-BE49-F238E27FC236}">
                <a16:creationId xmlns:a16="http://schemas.microsoft.com/office/drawing/2014/main" id="{B41D2438-9967-8EB7-A344-96AFBD719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3568" y="1389888"/>
            <a:ext cx="3048000" cy="4572000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2D3EE"/>
                </a:solidFill>
              </a:rPr>
              <a:t>06 · CAPACIDAD REUTILIZABLE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18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7F8FC"/>
                </a:solidFill>
              </a:rPr>
              <a:t>Skill: enseñar a Copilot cómo hacer algo bien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24358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B1C5"/>
                </a:solidFill>
              </a:rPr>
              <a:t>Una carpeta autocontenida de instrucciones, scripts y recursos que se carga cuando resulta relevante.</a:t>
            </a:r>
            <a:endParaRPr lang="en-US" sz="1400" dirty="0"/>
          </a:p>
        </p:txBody>
      </p:sp>
      <p:pic>
        <p:nvPicPr>
          <p:cNvPr id="5" name="Image 0" descr="/mnt/data/a2f9117e56.png"/>
          <p:cNvPicPr>
            <a:picLocks noChangeAspect="1"/>
          </p:cNvPicPr>
          <p:nvPr/>
        </p:nvPicPr>
        <p:blipFill>
          <a:blip r:embed="rId3"/>
          <a:srcRect l="10884" r="10884"/>
          <a:stretch/>
        </p:blipFill>
        <p:spPr>
          <a:xfrm>
            <a:off x="640080" y="1691640"/>
            <a:ext cx="5257800" cy="4480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309360" y="1828800"/>
            <a:ext cx="4800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D3E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.github/skills/create-api-endpoint/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510528" y="2468880"/>
            <a:ext cx="457200" cy="1"/>
          </a:xfrm>
          <a:prstGeom prst="line">
            <a:avLst/>
          </a:prstGeom>
          <a:noFill/>
          <a:ln w="25400">
            <a:solidFill>
              <a:srgbClr val="2A314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6995160" y="23134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4D39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◆ SKILL.md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510528" y="3035808"/>
            <a:ext cx="457200" cy="1"/>
          </a:xfrm>
          <a:prstGeom prst="line">
            <a:avLst/>
          </a:prstGeom>
          <a:noFill/>
          <a:ln w="25400">
            <a:solidFill>
              <a:srgbClr val="2A314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7"/>
          <p:cNvSpPr/>
          <p:nvPr/>
        </p:nvSpPr>
        <p:spPr>
          <a:xfrm>
            <a:off x="6995160" y="2880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7F8F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└─ scripts/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510528" y="3602736"/>
            <a:ext cx="457200" cy="1"/>
          </a:xfrm>
          <a:prstGeom prst="line">
            <a:avLst/>
          </a:prstGeom>
          <a:noFill/>
          <a:ln w="25400">
            <a:solidFill>
              <a:srgbClr val="2A314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/>
          <p:nvPr/>
        </p:nvSpPr>
        <p:spPr>
          <a:xfrm>
            <a:off x="6995160" y="34472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7F8F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└─ references/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510528" y="4169664"/>
            <a:ext cx="457200" cy="1"/>
          </a:xfrm>
          <a:prstGeom prst="line">
            <a:avLst/>
          </a:prstGeom>
          <a:noFill/>
          <a:ln w="25400">
            <a:solidFill>
              <a:srgbClr val="2A314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1"/>
          <p:cNvSpPr/>
          <p:nvPr/>
        </p:nvSpPr>
        <p:spPr>
          <a:xfrm>
            <a:off x="6995160" y="40142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7F8F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└─ assets/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510528" y="4736592"/>
            <a:ext cx="457200" cy="1"/>
          </a:xfrm>
          <a:prstGeom prst="line">
            <a:avLst/>
          </a:prstGeom>
          <a:noFill/>
          <a:ln w="25400">
            <a:solidFill>
              <a:srgbClr val="2A314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/>
          <p:nvPr/>
        </p:nvSpPr>
        <p:spPr>
          <a:xfrm>
            <a:off x="6995160" y="4581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7F8F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└─ examples/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309360" y="5440680"/>
            <a:ext cx="4800600" cy="566928"/>
          </a:xfrm>
          <a:prstGeom prst="roundRect">
            <a:avLst>
              <a:gd name="adj" fmla="val 19355"/>
            </a:avLst>
          </a:prstGeom>
          <a:solidFill>
            <a:srgbClr val="34D399">
              <a:alpha val="22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5"/>
          <p:cNvSpPr/>
          <p:nvPr/>
        </p:nvSpPr>
        <p:spPr>
          <a:xfrm>
            <a:off x="6537960" y="5605272"/>
            <a:ext cx="4343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7F8FC"/>
                </a:solidFill>
              </a:rPr>
              <a:t>Pregunta clave: ¿cómo se realiza esta tarea repetible?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2D3EE"/>
                </a:solidFill>
              </a:rPr>
              <a:t>07 · DECISIÓN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18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7F8FC"/>
                </a:solidFill>
              </a:rPr>
              <a:t>¿Cuándo crear una skill?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24358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B1C5"/>
                </a:solidFill>
              </a:rPr>
              <a:t>Busca repetición, claridad de entradas y salidas, y conocimiento procedimental compartible.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1783080"/>
            <a:ext cx="5257800" cy="3474720"/>
          </a:xfrm>
          <a:prstGeom prst="roundRect">
            <a:avLst>
              <a:gd name="adj" fmla="val 2105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685800" y="1783080"/>
            <a:ext cx="64008" cy="347472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86968" y="1947672"/>
            <a:ext cx="4910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SÍ, PROBABLEMENTE UNA SKILL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86968" y="2350008"/>
            <a:ext cx="4892040" cy="2761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dirty="0">
                <a:solidFill>
                  <a:srgbClr val="AAB1C5"/>
                </a:solidFill>
              </a:rPr>
              <a:t>El procedimiento se repite</a:t>
            </a:r>
            <a:endParaRPr lang="en-US" dirty="0"/>
          </a:p>
          <a:p>
            <a:r>
              <a:rPr lang="en-US" dirty="0">
                <a:solidFill>
                  <a:srgbClr val="AAB1C5"/>
                </a:solidFill>
              </a:rPr>
              <a:t>Los pasos son relativamente estables</a:t>
            </a:r>
            <a:endParaRPr lang="en-US" dirty="0"/>
          </a:p>
          <a:p>
            <a:r>
              <a:rPr lang="en-US" dirty="0">
                <a:solidFill>
                  <a:srgbClr val="AAB1C5"/>
                </a:solidFill>
              </a:rPr>
              <a:t>Necesitas scripts o plantillas</a:t>
            </a:r>
            <a:endParaRPr lang="en-US" dirty="0"/>
          </a:p>
          <a:p>
            <a:r>
              <a:rPr lang="en-US" dirty="0">
                <a:solidFill>
                  <a:srgbClr val="AAB1C5"/>
                </a:solidFill>
              </a:rPr>
              <a:t>Varios agentes podrían reutilizarlo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257800" cy="3474720"/>
          </a:xfrm>
          <a:prstGeom prst="roundRect">
            <a:avLst>
              <a:gd name="adj" fmla="val 2105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6263640" y="1783080"/>
            <a:ext cx="64008" cy="3474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6464808" y="1947672"/>
            <a:ext cx="4910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TAMBIÉN ES BUENA SEÑAL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64808" y="2350008"/>
            <a:ext cx="4892040" cy="2761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dirty="0">
                <a:solidFill>
                  <a:srgbClr val="AAB1C5"/>
                </a:solidFill>
              </a:rPr>
              <a:t>Entradas y resultados claros</a:t>
            </a:r>
            <a:endParaRPr lang="en-US" dirty="0"/>
          </a:p>
          <a:p>
            <a:r>
              <a:rPr lang="en-US" dirty="0">
                <a:solidFill>
                  <a:srgbClr val="AAB1C5"/>
                </a:solidFill>
              </a:rPr>
              <a:t>Quieres reducir prompts extensos</a:t>
            </a:r>
            <a:endParaRPr lang="en-US" dirty="0"/>
          </a:p>
          <a:p>
            <a:r>
              <a:rPr lang="en-US" dirty="0">
                <a:solidFill>
                  <a:srgbClr val="AAB1C5"/>
                </a:solidFill>
              </a:rPr>
              <a:t>No necesita identidad propia</a:t>
            </a:r>
            <a:endParaRPr lang="en-US" dirty="0"/>
          </a:p>
          <a:p>
            <a:r>
              <a:rPr lang="en-US" dirty="0">
                <a:solidFill>
                  <a:srgbClr val="AAB1C5"/>
                </a:solidFill>
              </a:rPr>
              <a:t>Debe evolucionar de forma independiente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005840" y="562356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i="1" dirty="0">
                <a:solidFill>
                  <a:srgbClr val="F7F8FC"/>
                </a:solidFill>
              </a:rPr>
              <a:t>“Cada vez que creemos un endpoint, sigamos este proceso.”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FF18BFB6-2612-E7D5-C21D-9A9E37BE57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4904" y="1627632"/>
            <a:ext cx="3005328" cy="4507992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2D3EE"/>
                </a:solidFill>
              </a:rPr>
              <a:t>08 · DELEGACIÓN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18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7F8FC"/>
                </a:solidFill>
              </a:rPr>
              <a:t>Subagente: un especialista temporal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24358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B1C5"/>
                </a:solidFill>
              </a:rPr>
              <a:t>El agente principal conserva el objetivo global. El subagente recibe una misión estrecha y devuelve el resultado.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2331720"/>
            <a:ext cx="1828800" cy="1005840"/>
          </a:xfrm>
          <a:prstGeom prst="roundRect">
            <a:avLst>
              <a:gd name="adj" fmla="val 10909"/>
            </a:avLst>
          </a:prstGeom>
          <a:solidFill>
            <a:srgbClr val="1B2032"/>
          </a:solidFill>
          <a:ln w="19050">
            <a:solidFill>
              <a:srgbClr val="AAB1C5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58952" y="2459736"/>
            <a:ext cx="16824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USUARIO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14600" y="2834640"/>
            <a:ext cx="1143000" cy="1"/>
          </a:xfrm>
          <a:prstGeom prst="line">
            <a:avLst/>
          </a:prstGeom>
          <a:noFill/>
          <a:ln w="20320">
            <a:solidFill>
              <a:srgbClr val="2A314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3657600" y="2103120"/>
            <a:ext cx="2194560" cy="1463040"/>
          </a:xfrm>
          <a:prstGeom prst="roundRect">
            <a:avLst>
              <a:gd name="adj" fmla="val 7500"/>
            </a:avLst>
          </a:prstGeom>
          <a:solidFill>
            <a:srgbClr val="1B2032"/>
          </a:solidFill>
          <a:ln w="19050">
            <a:solidFill>
              <a:srgbClr val="8B5CF6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3730752" y="2231136"/>
            <a:ext cx="20482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AGENTE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PRINCIPAL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 flipV="1">
            <a:off x="5852160" y="2267712"/>
            <a:ext cx="1600200" cy="566928"/>
          </a:xfrm>
          <a:prstGeom prst="line">
            <a:avLst/>
          </a:prstGeom>
          <a:noFill/>
          <a:ln w="20320">
            <a:solidFill>
              <a:srgbClr val="22D3E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7452360" y="1828800"/>
            <a:ext cx="2057400" cy="868680"/>
          </a:xfrm>
          <a:prstGeom prst="roundRect">
            <a:avLst>
              <a:gd name="adj" fmla="val 12632"/>
            </a:avLst>
          </a:prstGeom>
          <a:solidFill>
            <a:srgbClr val="1B2032"/>
          </a:solidFill>
          <a:ln w="19050">
            <a:solidFill>
              <a:srgbClr val="22D3EE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7525512" y="1956816"/>
            <a:ext cx="191109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INVESTIGACIÓN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509760" y="2267712"/>
            <a:ext cx="1143000" cy="566928"/>
          </a:xfrm>
          <a:prstGeom prst="line">
            <a:avLst/>
          </a:prstGeom>
          <a:noFill/>
          <a:ln w="20320">
            <a:solidFill>
              <a:srgbClr val="2A314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5852160" y="2834640"/>
            <a:ext cx="1600200" cy="484632"/>
          </a:xfrm>
          <a:prstGeom prst="line">
            <a:avLst/>
          </a:prstGeom>
          <a:noFill/>
          <a:ln w="20320">
            <a:solidFill>
              <a:srgbClr val="FB718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7452360" y="2880360"/>
            <a:ext cx="2057400" cy="868680"/>
          </a:xfrm>
          <a:prstGeom prst="roundRect">
            <a:avLst>
              <a:gd name="adj" fmla="val 12632"/>
            </a:avLst>
          </a:prstGeom>
          <a:solidFill>
            <a:srgbClr val="1B2032"/>
          </a:solidFill>
          <a:ln w="19050">
            <a:solidFill>
              <a:srgbClr val="FB7185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7525512" y="3008376"/>
            <a:ext cx="191109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SEGURIDAD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 flipV="1">
            <a:off x="9509760" y="2834640"/>
            <a:ext cx="1143000" cy="484632"/>
          </a:xfrm>
          <a:prstGeom prst="line">
            <a:avLst/>
          </a:prstGeom>
          <a:noFill/>
          <a:ln w="20320">
            <a:solidFill>
              <a:srgbClr val="2A314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ES"/>
          </a:p>
        </p:txBody>
      </p:sp>
      <p:sp>
        <p:nvSpPr>
          <p:cNvPr id="18" name="Shape 16"/>
          <p:cNvSpPr/>
          <p:nvPr/>
        </p:nvSpPr>
        <p:spPr>
          <a:xfrm>
            <a:off x="5852160" y="2834640"/>
            <a:ext cx="1600200" cy="1536192"/>
          </a:xfrm>
          <a:prstGeom prst="line">
            <a:avLst/>
          </a:prstGeom>
          <a:noFill/>
          <a:ln w="20320">
            <a:solidFill>
              <a:srgbClr val="34D3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7452360" y="3931920"/>
            <a:ext cx="2057400" cy="868680"/>
          </a:xfrm>
          <a:prstGeom prst="roundRect">
            <a:avLst>
              <a:gd name="adj" fmla="val 12632"/>
            </a:avLst>
          </a:prstGeom>
          <a:solidFill>
            <a:srgbClr val="1B2032"/>
          </a:solidFill>
          <a:ln w="19050">
            <a:solidFill>
              <a:srgbClr val="34D399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7525512" y="4059936"/>
            <a:ext cx="191109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TESTING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 flipV="1">
            <a:off x="9509760" y="2834640"/>
            <a:ext cx="1143000" cy="1536192"/>
          </a:xfrm>
          <a:prstGeom prst="line">
            <a:avLst/>
          </a:prstGeom>
          <a:noFill/>
          <a:ln w="20320">
            <a:solidFill>
              <a:srgbClr val="2A314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ES"/>
          </a:p>
        </p:txBody>
      </p:sp>
      <p:sp>
        <p:nvSpPr>
          <p:cNvPr id="22" name="Shape 20"/>
          <p:cNvSpPr/>
          <p:nvPr/>
        </p:nvSpPr>
        <p:spPr>
          <a:xfrm>
            <a:off x="10652760" y="2331720"/>
            <a:ext cx="914400" cy="1005840"/>
          </a:xfrm>
          <a:prstGeom prst="roundRect">
            <a:avLst>
              <a:gd name="adj" fmla="val 12000"/>
            </a:avLst>
          </a:prstGeom>
          <a:solidFill>
            <a:srgbClr val="1B2032"/>
          </a:solidFill>
          <a:ln w="19050">
            <a:solidFill>
              <a:srgbClr val="FBBF24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3" name="Text 21"/>
          <p:cNvSpPr/>
          <p:nvPr/>
        </p:nvSpPr>
        <p:spPr>
          <a:xfrm>
            <a:off x="10725912" y="2459736"/>
            <a:ext cx="768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SÍNTESIS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474720" y="5257800"/>
            <a:ext cx="5486400" cy="365760"/>
          </a:xfrm>
          <a:prstGeom prst="roundRect">
            <a:avLst>
              <a:gd name="adj" fmla="val 50000"/>
            </a:avLst>
          </a:prstGeom>
          <a:solidFill>
            <a:srgbClr val="6D28D9">
              <a:alpha val="88000"/>
            </a:srgbClr>
          </a:solidFill>
          <a:ln w="12700">
            <a:solidFill>
              <a:srgbClr val="6D28D9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5" name="Text 23"/>
          <p:cNvSpPr/>
          <p:nvPr/>
        </p:nvSpPr>
        <p:spPr>
          <a:xfrm>
            <a:off x="3474720" y="5340096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7F8FC"/>
                </a:solidFill>
              </a:rPr>
              <a:t>Aislar · Especializar · Paralelizar · Sintetizar</a:t>
            </a:r>
            <a:endParaRPr lang="en-US" sz="10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pic>
        <p:nvPicPr>
          <p:cNvPr id="34" name="Imagen 33">
            <a:extLst>
              <a:ext uri="{FF2B5EF4-FFF2-40B4-BE49-F238E27FC236}">
                <a16:creationId xmlns:a16="http://schemas.microsoft.com/office/drawing/2014/main" id="{CC2C1860-88A6-FC6A-756E-BDECB2ECD1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3381" y="1330365"/>
            <a:ext cx="7305238" cy="4870159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2D3EE"/>
                </a:solidFill>
              </a:rPr>
              <a:t>09 · LA DIFERENCIA ESENCIAL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18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7F8FC"/>
                </a:solidFill>
              </a:rPr>
              <a:t>Una frase para recordar cada concepto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24358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B1C5"/>
                </a:solidFill>
              </a:rPr>
              <a:t>Si dudas entre dos opciones, vuelve a la responsabilidad que estás modelando.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10744200" cy="777240"/>
          </a:xfrm>
          <a:prstGeom prst="roundRect">
            <a:avLst>
              <a:gd name="adj" fmla="val 14118"/>
            </a:avLst>
          </a:prstGeom>
          <a:solidFill>
            <a:srgbClr val="131725"/>
          </a:solidFill>
          <a:ln w="15240">
            <a:solidFill>
              <a:srgbClr val="AAB1C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1005840" y="19659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20" dirty="0">
                <a:solidFill>
                  <a:srgbClr val="AAB1C5"/>
                </a:solidFill>
              </a:rPr>
              <a:t>INSTRUCCIÓN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971800" y="19202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7F8FC"/>
                </a:solidFill>
              </a:rPr>
              <a:t>“Estas son las reglas que debes respetar.”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31520" y="2816352"/>
            <a:ext cx="10744200" cy="777240"/>
          </a:xfrm>
          <a:prstGeom prst="roundRect">
            <a:avLst>
              <a:gd name="adj" fmla="val 14118"/>
            </a:avLst>
          </a:prstGeom>
          <a:solidFill>
            <a:srgbClr val="131725"/>
          </a:solidFill>
          <a:ln w="1524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1005840" y="30449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20" dirty="0">
                <a:solidFill>
                  <a:srgbClr val="34D399"/>
                </a:solidFill>
              </a:rPr>
              <a:t>SKILL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971800" y="299923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7F8FC"/>
                </a:solidFill>
              </a:rPr>
              <a:t>“Así se realiza correctamente esta tarea.”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31520" y="3895344"/>
            <a:ext cx="10744200" cy="777240"/>
          </a:xfrm>
          <a:prstGeom prst="roundRect">
            <a:avLst>
              <a:gd name="adj" fmla="val 14118"/>
            </a:avLst>
          </a:prstGeom>
          <a:solidFill>
            <a:srgbClr val="131725"/>
          </a:solidFill>
          <a:ln w="1524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1005840" y="412394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20" dirty="0">
                <a:solidFill>
                  <a:srgbClr val="8B5CF6"/>
                </a:solidFill>
              </a:rPr>
              <a:t>AGENTE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971800" y="4078224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7F8FC"/>
                </a:solidFill>
              </a:rPr>
              <a:t>“Este es tu objetivo y tu ámbito de responsabilidad.”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31520" y="4974336"/>
            <a:ext cx="10744200" cy="777240"/>
          </a:xfrm>
          <a:prstGeom prst="roundRect">
            <a:avLst>
              <a:gd name="adj" fmla="val 14118"/>
            </a:avLst>
          </a:prstGeom>
          <a:solidFill>
            <a:srgbClr val="131725"/>
          </a:solidFill>
          <a:ln w="1524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1005840" y="520293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20" dirty="0">
                <a:solidFill>
                  <a:srgbClr val="22D3EE"/>
                </a:solidFill>
              </a:rPr>
              <a:t>SUBAGENTE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971800" y="51572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7F8FC"/>
                </a:solidFill>
              </a:rPr>
              <a:t>“Resuelve esta parte y devuelve el resultado.”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2D3EE"/>
                </a:solidFill>
              </a:rPr>
              <a:t>10 · ÁRBOL DE DECISIÓN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18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7F8FC"/>
                </a:solidFill>
              </a:rPr>
              <a:t>¿Qué debería crear?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24358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B1C5"/>
                </a:solidFill>
              </a:rPr>
              <a:t>Usa la opción más simple que represente correctamente el problema.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2286000" cy="777240"/>
          </a:xfrm>
          <a:prstGeom prst="roundRect">
            <a:avLst>
              <a:gd name="adj" fmla="val 14118"/>
            </a:avLst>
          </a:prstGeom>
          <a:solidFill>
            <a:srgbClr val="1B2032"/>
          </a:solidFill>
          <a:ln w="19050">
            <a:solidFill>
              <a:srgbClr val="AAB1C5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58952" y="2276856"/>
            <a:ext cx="213969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¿Reglas estables?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29000" y="1783080"/>
            <a:ext cx="2057400" cy="731520"/>
          </a:xfrm>
          <a:prstGeom prst="roundRect">
            <a:avLst>
              <a:gd name="adj" fmla="val 15000"/>
            </a:avLst>
          </a:prstGeom>
          <a:solidFill>
            <a:srgbClr val="1B2032"/>
          </a:solidFill>
          <a:ln w="19050">
            <a:solidFill>
              <a:srgbClr val="AAB1C5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3502152" y="1911096"/>
            <a:ext cx="19110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INSTRUCCIONES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29000" y="2880360"/>
            <a:ext cx="2286000" cy="777240"/>
          </a:xfrm>
          <a:prstGeom prst="roundRect">
            <a:avLst>
              <a:gd name="adj" fmla="val 14118"/>
            </a:avLst>
          </a:prstGeom>
          <a:solidFill>
            <a:srgbClr val="1B2032"/>
          </a:solidFill>
          <a:ln w="19050">
            <a:solidFill>
              <a:srgbClr val="34D399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3502152" y="3008376"/>
            <a:ext cx="213969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¿Proceso repetible?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72200" y="2514600"/>
            <a:ext cx="1645920" cy="731520"/>
          </a:xfrm>
          <a:prstGeom prst="roundRect">
            <a:avLst>
              <a:gd name="adj" fmla="val 15000"/>
            </a:avLst>
          </a:prstGeom>
          <a:solidFill>
            <a:srgbClr val="1B2032"/>
          </a:solidFill>
          <a:ln w="19050">
            <a:solidFill>
              <a:srgbClr val="34D399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6245352" y="2642616"/>
            <a:ext cx="1499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SKILL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72200" y="3703320"/>
            <a:ext cx="2286000" cy="777240"/>
          </a:xfrm>
          <a:prstGeom prst="roundRect">
            <a:avLst>
              <a:gd name="adj" fmla="val 14118"/>
            </a:avLst>
          </a:prstGeom>
          <a:solidFill>
            <a:srgbClr val="1B2032"/>
          </a:solidFill>
          <a:ln w="19050">
            <a:solidFill>
              <a:srgbClr val="8B5CF6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6245352" y="3831336"/>
            <a:ext cx="213969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¿Decide y actúa?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915400" y="3337560"/>
            <a:ext cx="1417320" cy="731520"/>
          </a:xfrm>
          <a:prstGeom prst="roundRect">
            <a:avLst>
              <a:gd name="adj" fmla="val 15000"/>
            </a:avLst>
          </a:prstGeom>
          <a:solidFill>
            <a:srgbClr val="1B2032"/>
          </a:solidFill>
          <a:ln w="19050">
            <a:solidFill>
              <a:srgbClr val="8B5CF6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8988552" y="3465576"/>
            <a:ext cx="127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AGENTE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72200" y="4983480"/>
            <a:ext cx="2286000" cy="777240"/>
          </a:xfrm>
          <a:prstGeom prst="roundRect">
            <a:avLst>
              <a:gd name="adj" fmla="val 14118"/>
            </a:avLst>
          </a:prstGeom>
          <a:solidFill>
            <a:srgbClr val="1B2032"/>
          </a:solidFill>
          <a:ln w="19050">
            <a:solidFill>
              <a:srgbClr val="22D3EE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6245352" y="5111496"/>
            <a:ext cx="213969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¿Se puede delegar?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915400" y="4983480"/>
            <a:ext cx="1645920" cy="731520"/>
          </a:xfrm>
          <a:prstGeom prst="roundRect">
            <a:avLst>
              <a:gd name="adj" fmla="val 15000"/>
            </a:avLst>
          </a:prstGeom>
          <a:solidFill>
            <a:srgbClr val="1B2032"/>
          </a:solidFill>
          <a:ln w="19050">
            <a:solidFill>
              <a:srgbClr val="22D3EE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8988552" y="5111496"/>
            <a:ext cx="1499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SUBAGENTE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 flipV="1">
            <a:off x="2971800" y="2148840"/>
            <a:ext cx="457200" cy="384048"/>
          </a:xfrm>
          <a:prstGeom prst="line">
            <a:avLst/>
          </a:prstGeom>
          <a:noFill/>
          <a:ln w="20320">
            <a:solidFill>
              <a:srgbClr val="AAB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ES"/>
          </a:p>
        </p:txBody>
      </p:sp>
      <p:sp>
        <p:nvSpPr>
          <p:cNvPr id="22" name="Shape 20"/>
          <p:cNvSpPr/>
          <p:nvPr/>
        </p:nvSpPr>
        <p:spPr>
          <a:xfrm>
            <a:off x="2971800" y="2532888"/>
            <a:ext cx="457200" cy="731520"/>
          </a:xfrm>
          <a:prstGeom prst="line">
            <a:avLst/>
          </a:prstGeom>
          <a:noFill/>
          <a:ln w="20320">
            <a:solidFill>
              <a:srgbClr val="2A314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 flipV="1">
            <a:off x="5715000" y="2880360"/>
            <a:ext cx="457200" cy="384048"/>
          </a:xfrm>
          <a:prstGeom prst="line">
            <a:avLst/>
          </a:prstGeom>
          <a:noFill/>
          <a:ln w="20320">
            <a:solidFill>
              <a:srgbClr val="34D3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ES"/>
          </a:p>
        </p:txBody>
      </p:sp>
      <p:sp>
        <p:nvSpPr>
          <p:cNvPr id="24" name="Shape 22"/>
          <p:cNvSpPr/>
          <p:nvPr/>
        </p:nvSpPr>
        <p:spPr>
          <a:xfrm>
            <a:off x="5715000" y="3264408"/>
            <a:ext cx="457200" cy="822960"/>
          </a:xfrm>
          <a:prstGeom prst="line">
            <a:avLst/>
          </a:prstGeom>
          <a:noFill/>
          <a:ln w="20320">
            <a:solidFill>
              <a:srgbClr val="2A314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ES"/>
          </a:p>
        </p:txBody>
      </p:sp>
      <p:sp>
        <p:nvSpPr>
          <p:cNvPr id="25" name="Shape 23"/>
          <p:cNvSpPr/>
          <p:nvPr/>
        </p:nvSpPr>
        <p:spPr>
          <a:xfrm flipV="1">
            <a:off x="8458200" y="3703320"/>
            <a:ext cx="457200" cy="384048"/>
          </a:xfrm>
          <a:prstGeom prst="line">
            <a:avLst/>
          </a:prstGeom>
          <a:noFill/>
          <a:ln w="20320">
            <a:solidFill>
              <a:srgbClr val="8B5CF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ES"/>
          </a:p>
        </p:txBody>
      </p:sp>
      <p:sp>
        <p:nvSpPr>
          <p:cNvPr id="26" name="Shape 24"/>
          <p:cNvSpPr/>
          <p:nvPr/>
        </p:nvSpPr>
        <p:spPr>
          <a:xfrm>
            <a:off x="7315200" y="4480560"/>
            <a:ext cx="1" cy="502920"/>
          </a:xfrm>
          <a:prstGeom prst="line">
            <a:avLst/>
          </a:prstGeom>
          <a:noFill/>
          <a:ln w="20320">
            <a:solidFill>
              <a:srgbClr val="2A314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ES"/>
          </a:p>
        </p:txBody>
      </p:sp>
      <p:sp>
        <p:nvSpPr>
          <p:cNvPr id="27" name="Shape 25"/>
          <p:cNvSpPr/>
          <p:nvPr/>
        </p:nvSpPr>
        <p:spPr>
          <a:xfrm>
            <a:off x="8458200" y="5367528"/>
            <a:ext cx="457200" cy="1"/>
          </a:xfrm>
          <a:prstGeom prst="line">
            <a:avLst/>
          </a:prstGeom>
          <a:noFill/>
          <a:ln w="20320">
            <a:solidFill>
              <a:srgbClr val="22D3E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ES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2D3EE"/>
                </a:solidFill>
              </a:rPr>
              <a:t>11 · ANTIPATRÓN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18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7F8FC"/>
                </a:solidFill>
              </a:rPr>
              <a:t>No construyas un ejército si basta una caja de herramientas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24358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B1C5"/>
                </a:solidFill>
              </a:rPr>
              <a:t>Más agentes también significan más coordinación, más contexto fragmentado y más puntos de conflicto.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1783080"/>
            <a:ext cx="5074920" cy="3611880"/>
          </a:xfrm>
          <a:prstGeom prst="roundRect">
            <a:avLst>
              <a:gd name="adj" fmla="val 2025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685800" y="1783080"/>
            <a:ext cx="64008" cy="361188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86968" y="1947672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❌ SOBREARQUITECTURA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86968" y="2350008"/>
            <a:ext cx="4709160" cy="2898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600" dirty="0">
                <a:solidFill>
                  <a:srgbClr val="AAB1C5"/>
                </a:solidFill>
              </a:rPr>
              <a:t>Agente de controladores</a:t>
            </a:r>
            <a:endParaRPr lang="en-US" sz="1600" dirty="0"/>
          </a:p>
          <a:p>
            <a:r>
              <a:rPr lang="en-US" sz="1600" dirty="0">
                <a:solidFill>
                  <a:srgbClr val="AAB1C5"/>
                </a:solidFill>
              </a:rPr>
              <a:t>Agente de DTOs</a:t>
            </a:r>
            <a:endParaRPr lang="en-US" sz="1600" dirty="0"/>
          </a:p>
          <a:p>
            <a:r>
              <a:rPr lang="en-US" sz="1600" dirty="0">
                <a:solidFill>
                  <a:srgbClr val="AAB1C5"/>
                </a:solidFill>
              </a:rPr>
              <a:t>Agente de logs</a:t>
            </a:r>
            <a:endParaRPr lang="en-US" sz="1600" dirty="0"/>
          </a:p>
          <a:p>
            <a:r>
              <a:rPr lang="en-US" sz="1600" dirty="0">
                <a:solidFill>
                  <a:srgbClr val="AAB1C5"/>
                </a:solidFill>
              </a:rPr>
              <a:t>Agente de tests</a:t>
            </a:r>
            <a:endParaRPr lang="en-US" sz="1600" dirty="0"/>
          </a:p>
          <a:p>
            <a:r>
              <a:rPr lang="en-US" sz="1600" dirty="0">
                <a:solidFill>
                  <a:srgbClr val="AAB1C5"/>
                </a:solidFill>
              </a:rPr>
              <a:t>Agente de README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0" y="1783080"/>
            <a:ext cx="5074920" cy="3611880"/>
          </a:xfrm>
          <a:prstGeom prst="roundRect">
            <a:avLst>
              <a:gd name="adj" fmla="val 2025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6400800" y="1783080"/>
            <a:ext cx="64008" cy="361188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6601968" y="1947672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✓ DISEÑO MÁS SIMPLE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01968" y="2350008"/>
            <a:ext cx="4709160" cy="2898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600" dirty="0">
                <a:solidFill>
                  <a:srgbClr val="AAB1C5"/>
                </a:solidFill>
              </a:rPr>
              <a:t>Implementation Agent</a:t>
            </a:r>
            <a:endParaRPr lang="en-US" sz="1600" dirty="0"/>
          </a:p>
          <a:p>
            <a:r>
              <a:rPr lang="en-US" sz="1600" dirty="0">
                <a:solidFill>
                  <a:srgbClr val="AAB1C5"/>
                </a:solidFill>
              </a:rPr>
              <a:t>Skill: create-endpoint</a:t>
            </a:r>
            <a:endParaRPr lang="en-US" sz="1600" dirty="0"/>
          </a:p>
          <a:p>
            <a:r>
              <a:rPr lang="en-US" sz="1600" dirty="0">
                <a:solidFill>
                  <a:srgbClr val="AAB1C5"/>
                </a:solidFill>
              </a:rPr>
              <a:t>Skill: add-observability</a:t>
            </a:r>
            <a:endParaRPr lang="en-US" sz="1600" dirty="0"/>
          </a:p>
          <a:p>
            <a:r>
              <a:rPr lang="en-US" sz="1600" dirty="0">
                <a:solidFill>
                  <a:srgbClr val="AAB1C5"/>
                </a:solidFill>
              </a:rPr>
              <a:t>Skill: generate-tests</a:t>
            </a:r>
            <a:endParaRPr lang="en-US" sz="1600" dirty="0"/>
          </a:p>
          <a:p>
            <a:r>
              <a:rPr lang="en-US" sz="1600" dirty="0">
                <a:solidFill>
                  <a:srgbClr val="AAB1C5"/>
                </a:solidFill>
              </a:rPr>
              <a:t>Skill: update-docs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5687568"/>
            <a:ext cx="10287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7F8FC"/>
                </a:solidFill>
              </a:rPr>
              <a:t>Un ecosistema de agentes no mejora por tener más agentes. Igual que una arquitectura de microservicios no mejora por tener más microservicios.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2D3EE"/>
                </a:solidFill>
              </a:rPr>
              <a:t>12 · PATRONES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18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7F8FC"/>
                </a:solidFill>
              </a:rPr>
              <a:t>Tres arquitecturas que sí funcionan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24358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B1C5"/>
                </a:solidFill>
              </a:rPr>
              <a:t>Elige según tamaño del repositorio, heterogeneidad y necesidad de aislamiento.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520440" cy="3977640"/>
          </a:xfrm>
          <a:prstGeom prst="roundRect">
            <a:avLst>
              <a:gd name="adj" fmla="val 2078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64008" cy="397764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749808" y="1856232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1 · GENERALISTA + SKILLS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2258568"/>
            <a:ext cx="3154680" cy="32644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600" dirty="0">
                <a:solidFill>
                  <a:srgbClr val="AAB1C5"/>
                </a:solidFill>
              </a:rPr>
              <a:t>Development Agent</a:t>
            </a:r>
            <a:endParaRPr lang="en-US" sz="1600" dirty="0"/>
          </a:p>
          <a:p>
            <a:r>
              <a:rPr lang="en-US" sz="1600" dirty="0">
                <a:solidFill>
                  <a:srgbClr val="AAB1C5"/>
                </a:solidFill>
              </a:rPr>
              <a:t> ├ create-endpoint</a:t>
            </a:r>
            <a:endParaRPr lang="en-US" sz="1600" dirty="0"/>
          </a:p>
          <a:p>
            <a:r>
              <a:rPr lang="en-US" sz="1600" dirty="0">
                <a:solidFill>
                  <a:srgbClr val="AAB1C5"/>
                </a:solidFill>
              </a:rPr>
              <a:t> ├ create-migration</a:t>
            </a:r>
            <a:endParaRPr lang="en-US" sz="1600" dirty="0"/>
          </a:p>
          <a:p>
            <a:r>
              <a:rPr lang="en-US" sz="1600" dirty="0">
                <a:solidFill>
                  <a:srgbClr val="AAB1C5"/>
                </a:solidFill>
              </a:rPr>
              <a:t> ├ add-telemetry</a:t>
            </a:r>
            <a:endParaRPr lang="en-US" sz="1600" dirty="0"/>
          </a:p>
          <a:p>
            <a:r>
              <a:rPr lang="en-US" sz="1600" dirty="0">
                <a:solidFill>
                  <a:srgbClr val="AAB1C5"/>
                </a:solidFill>
              </a:rPr>
              <a:t>  └ generate-tests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>
                <a:solidFill>
                  <a:srgbClr val="AAB1C5"/>
                </a:solidFill>
              </a:rPr>
              <a:t>Ideal para equipos pequeños y repositorios homogéneos.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691640"/>
            <a:ext cx="3520440" cy="3977640"/>
          </a:xfrm>
          <a:prstGeom prst="roundRect">
            <a:avLst>
              <a:gd name="adj" fmla="val 2078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4343400" y="1691640"/>
            <a:ext cx="64008" cy="39776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4544568" y="1856232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2 · ORQUESTADOR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44568" y="2258568"/>
            <a:ext cx="3154680" cy="32644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600" dirty="0">
                <a:solidFill>
                  <a:srgbClr val="AAB1C5"/>
                </a:solidFill>
              </a:rPr>
              <a:t>Orchestrator Agent</a:t>
            </a:r>
            <a:endParaRPr lang="en-US" sz="1600" dirty="0"/>
          </a:p>
          <a:p>
            <a:r>
              <a:rPr lang="en-US" sz="1600" dirty="0">
                <a:solidFill>
                  <a:srgbClr val="AAB1C5"/>
                </a:solidFill>
              </a:rPr>
              <a:t> ├ Research Agent</a:t>
            </a:r>
            <a:endParaRPr lang="en-US" sz="1600" dirty="0"/>
          </a:p>
          <a:p>
            <a:r>
              <a:rPr lang="en-US" sz="1600" dirty="0">
                <a:solidFill>
                  <a:srgbClr val="AAB1C5"/>
                </a:solidFill>
              </a:rPr>
              <a:t> ├ Architecture Agent</a:t>
            </a:r>
            <a:endParaRPr lang="en-US" sz="1600" dirty="0"/>
          </a:p>
          <a:p>
            <a:r>
              <a:rPr lang="en-US" sz="1600" dirty="0">
                <a:solidFill>
                  <a:srgbClr val="AAB1C5"/>
                </a:solidFill>
              </a:rPr>
              <a:t> ├ Implementation Agent</a:t>
            </a:r>
            <a:endParaRPr lang="en-US" sz="1600" dirty="0"/>
          </a:p>
          <a:p>
            <a:r>
              <a:rPr lang="en-US" sz="1600" dirty="0">
                <a:solidFill>
                  <a:srgbClr val="AAB1C5"/>
                </a:solidFill>
              </a:rPr>
              <a:t>  └ Review Agent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>
                <a:solidFill>
                  <a:srgbClr val="AAB1C5"/>
                </a:solidFill>
              </a:rPr>
              <a:t>Ideal para cambios transversales y trabajo paralelo.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138160" y="1691640"/>
            <a:ext cx="3520440" cy="3977640"/>
          </a:xfrm>
          <a:prstGeom prst="roundRect">
            <a:avLst>
              <a:gd name="adj" fmla="val 2078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64008" cy="39776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8339328" y="1856232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3 · AGENTES + SKILLS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39328" y="2258568"/>
            <a:ext cx="3154680" cy="32644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600" dirty="0">
                <a:solidFill>
                  <a:srgbClr val="AAB1C5"/>
                </a:solidFill>
              </a:rPr>
              <a:t>Architecture Agent       ─┐</a:t>
            </a:r>
            <a:endParaRPr lang="en-US" sz="1600" dirty="0"/>
          </a:p>
          <a:p>
            <a:r>
              <a:rPr lang="en-US" sz="1600" dirty="0">
                <a:solidFill>
                  <a:srgbClr val="AAB1C5"/>
                </a:solidFill>
              </a:rPr>
              <a:t>Implementation Agent ├ Skills</a:t>
            </a:r>
            <a:endParaRPr lang="en-US" sz="1600" dirty="0"/>
          </a:p>
          <a:p>
            <a:r>
              <a:rPr lang="en-US" sz="1600" dirty="0">
                <a:solidFill>
                  <a:srgbClr val="AAB1C5"/>
                </a:solidFill>
              </a:rPr>
              <a:t>Review Agent ────────┘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>
                <a:solidFill>
                  <a:srgbClr val="AAB1C5"/>
                </a:solidFill>
              </a:rPr>
              <a:t>Ideal para compartir estándares sin duplicar conocimiento.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2D3EE"/>
                </a:solidFill>
              </a:rPr>
              <a:t>13 · DEMO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18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7F8FC"/>
                </a:solidFill>
              </a:rPr>
              <a:t>De una petición vaga a un equipo de trabajo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24358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B1C5"/>
                </a:solidFill>
              </a:rPr>
              <a:t>Caso: añadir un endpoint de registro de dispositivos a una API .NET.</a:t>
            </a:r>
            <a:endParaRPr lang="en-US" sz="1400" dirty="0"/>
          </a:p>
        </p:txBody>
      </p:sp>
      <p:pic>
        <p:nvPicPr>
          <p:cNvPr id="5" name="Image 0" descr="/mnt/data/df96d50b83.png"/>
          <p:cNvPicPr>
            <a:picLocks noChangeAspect="1"/>
          </p:cNvPicPr>
          <p:nvPr/>
        </p:nvPicPr>
        <p:blipFill>
          <a:blip r:embed="rId3"/>
          <a:srcRect l="10606" r="10606"/>
          <a:stretch/>
        </p:blipFill>
        <p:spPr>
          <a:xfrm>
            <a:off x="6309360" y="1645920"/>
            <a:ext cx="5349240" cy="45262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1700784"/>
            <a:ext cx="438912" cy="438912"/>
          </a:xfrm>
          <a:prstGeom prst="ellipse">
            <a:avLst/>
          </a:prstGeom>
          <a:solidFill>
            <a:srgbClr val="AAB1C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/>
          <p:nvPr/>
        </p:nvSpPr>
        <p:spPr>
          <a:xfrm>
            <a:off x="685800" y="1801368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7F8FC"/>
                </a:solidFill>
              </a:rPr>
              <a:t>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325880" y="17099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AB1C5"/>
                </a:solidFill>
              </a:rPr>
              <a:t>PROMPT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2834640" y="170992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7F8FC"/>
                </a:solidFill>
              </a:rPr>
              <a:t>“Añade un endpoint”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85800" y="2560320"/>
            <a:ext cx="438912" cy="438912"/>
          </a:xfrm>
          <a:prstGeom prst="ellipse">
            <a:avLst/>
          </a:prstGeom>
          <a:solidFill>
            <a:srgbClr val="22D3E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8"/>
          <p:cNvSpPr/>
          <p:nvPr/>
        </p:nvSpPr>
        <p:spPr>
          <a:xfrm>
            <a:off x="685800" y="2660904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7F8FC"/>
                </a:solidFill>
              </a:rPr>
              <a:t>2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325880" y="256946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D3EE"/>
                </a:solidFill>
              </a:rPr>
              <a:t>INSTRUCCIONES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2834640" y="2569464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7F8FC"/>
                </a:solidFill>
              </a:rPr>
              <a:t>Arquitectura y convenciones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85800" y="3419856"/>
            <a:ext cx="438912" cy="43891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2"/>
          <p:cNvSpPr/>
          <p:nvPr/>
        </p:nvSpPr>
        <p:spPr>
          <a:xfrm>
            <a:off x="685800" y="3520440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7F8FC"/>
                </a:solidFill>
              </a:rPr>
              <a:t>3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325880" y="342900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D399"/>
                </a:solidFill>
              </a:rPr>
              <a:t>SKILL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2834640" y="34290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7F8FC"/>
                </a:solidFill>
              </a:rPr>
              <a:t>Proceso create-api-endpoint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685800" y="4279392"/>
            <a:ext cx="438912" cy="438912"/>
          </a:xfrm>
          <a:prstGeom prst="ellipse">
            <a:avLst/>
          </a:prstGeom>
          <a:solidFill>
            <a:srgbClr val="8B5CF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6"/>
          <p:cNvSpPr/>
          <p:nvPr/>
        </p:nvSpPr>
        <p:spPr>
          <a:xfrm>
            <a:off x="685800" y="4379976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7F8FC"/>
                </a:solidFill>
              </a:rPr>
              <a:t>4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325880" y="428853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5CF6"/>
                </a:solidFill>
              </a:rPr>
              <a:t>SUBAGENTES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2834640" y="4288536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7F8FC"/>
                </a:solidFill>
              </a:rPr>
              <a:t>Auth · Seguridad · Tests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685800" y="5138928"/>
            <a:ext cx="438912" cy="43891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Text 20"/>
          <p:cNvSpPr/>
          <p:nvPr/>
        </p:nvSpPr>
        <p:spPr>
          <a:xfrm>
            <a:off x="685800" y="5239512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7F8FC"/>
                </a:solidFill>
              </a:rPr>
              <a:t>5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325880" y="51480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BBF24"/>
                </a:solidFill>
              </a:rPr>
              <a:t>SÍNTESIS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2834640" y="514807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7F8FC"/>
                </a:solidFill>
              </a:rPr>
              <a:t>Plan, implementación y validación</a:t>
            </a:r>
            <a:endParaRPr lang="en-US" sz="13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2D3EE"/>
                </a:solidFill>
              </a:rPr>
              <a:t>14 · GOBIERNO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18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7F8FC"/>
                </a:solidFill>
              </a:rPr>
              <a:t>Cuando Copilot actúa, la seguridad deja de ser opcional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24358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B1C5"/>
                </a:solidFill>
              </a:rPr>
              <a:t>Trata cada agente y cada skill como software con permisos, dependencias y superficie de ataque.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1783080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685800" y="1783080"/>
            <a:ext cx="64008" cy="14173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86968" y="1947672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MÍNIMO PRIVILEGIO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86968" y="2350008"/>
            <a:ext cx="2971800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AAB1C5"/>
                </a:solidFill>
              </a:rPr>
              <a:t>Solo las herramientas necesarias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480560" y="1783080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4480560" y="1783080"/>
            <a:ext cx="64008" cy="14173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4681728" y="1947672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LECTURA ≠ ESCRITURA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81728" y="2350008"/>
            <a:ext cx="2971800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AAB1C5"/>
                </a:solidFill>
              </a:rPr>
              <a:t>Separa exploración y modificación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275320" y="1783080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8275320" y="1783080"/>
            <a:ext cx="64008" cy="141732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8476488" y="1947672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SECRETOS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76488" y="2350008"/>
            <a:ext cx="2971800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AAB1C5"/>
                </a:solidFill>
              </a:rPr>
              <a:t>Nunca en prompts ni recursos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3657600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Shape 16"/>
          <p:cNvSpPr/>
          <p:nvPr/>
        </p:nvSpPr>
        <p:spPr>
          <a:xfrm>
            <a:off x="685800" y="3657600"/>
            <a:ext cx="64008" cy="14173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886968" y="3822192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TRAZABILIDAD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86968" y="4224528"/>
            <a:ext cx="2971800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AAB1C5"/>
                </a:solidFill>
              </a:rPr>
              <a:t>Registra acciones y decisiones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480560" y="3657600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2" name="Shape 20"/>
          <p:cNvSpPr/>
          <p:nvPr/>
        </p:nvSpPr>
        <p:spPr>
          <a:xfrm>
            <a:off x="4480560" y="3657600"/>
            <a:ext cx="64008" cy="141732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Text 21"/>
          <p:cNvSpPr/>
          <p:nvPr/>
        </p:nvSpPr>
        <p:spPr>
          <a:xfrm>
            <a:off x="4681728" y="3822192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REVISIÓN HUMANA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681728" y="4224528"/>
            <a:ext cx="2971800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AAB1C5"/>
                </a:solidFill>
              </a:rPr>
              <a:t>Operaciones sensibles requieren control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275320" y="3657600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6" name="Shape 24"/>
          <p:cNvSpPr/>
          <p:nvPr/>
        </p:nvSpPr>
        <p:spPr>
          <a:xfrm>
            <a:off x="8275320" y="3657600"/>
            <a:ext cx="64008" cy="14173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5"/>
          <p:cNvSpPr/>
          <p:nvPr/>
        </p:nvSpPr>
        <p:spPr>
          <a:xfrm>
            <a:off x="8476488" y="3822192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SKILLS EXTERNAS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476488" y="4224528"/>
            <a:ext cx="2971800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AAB1C5"/>
                </a:solidFill>
              </a:rPr>
              <a:t>Revísalas como una dependencia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005840" y="571500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7F8FC"/>
                </a:solidFill>
              </a:rPr>
              <a:t>Permisos + contexto + herramientas + validación = confianza operativa</a:t>
            </a:r>
            <a:endParaRPr lang="en-US" sz="19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2D3EE"/>
                </a:solidFill>
              </a:rPr>
              <a:t>15 · RESPUESTA FINAL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18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7F8FC"/>
                </a:solidFill>
              </a:rPr>
              <a:t>¿Cómo revisarías la seguridad de una API?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24358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B1C5"/>
                </a:solidFill>
              </a:rPr>
              <a:t>El mismo dominio puede modelarse de cuatro formas según el nivel de autonomía.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2560320" cy="3108960"/>
          </a:xfrm>
          <a:prstGeom prst="roundRect">
            <a:avLst>
              <a:gd name="adj" fmla="val 2857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64008" cy="3108960"/>
          </a:xfrm>
          <a:prstGeom prst="rect">
            <a:avLst/>
          </a:prstGeom>
          <a:solidFill>
            <a:srgbClr val="AAB1C5"/>
          </a:solidFill>
          <a:ln w="12700">
            <a:solidFill>
              <a:srgbClr val="AAB1C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41248" y="1993392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INSTRUCCIÓN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395728"/>
            <a:ext cx="2194560" cy="2395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AAB1C5"/>
                </a:solidFill>
              </a:rPr>
              <a:t>“Todos los endpoints deben validar autorización y no registrar datos sensibles.”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429000" y="1828800"/>
            <a:ext cx="2560320" cy="3108960"/>
          </a:xfrm>
          <a:prstGeom prst="roundRect">
            <a:avLst>
              <a:gd name="adj" fmla="val 2857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3429000" y="1828800"/>
            <a:ext cx="64008" cy="31089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3630168" y="1993392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SKILL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30168" y="2395728"/>
            <a:ext cx="2194560" cy="2395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AAB1C5"/>
                </a:solidFill>
              </a:rPr>
              <a:t>Ejecuta un checklist repetible y genera el informe con una plantilla.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0" y="1828800"/>
            <a:ext cx="2560320" cy="3108960"/>
          </a:xfrm>
          <a:prstGeom prst="roundRect">
            <a:avLst>
              <a:gd name="adj" fmla="val 2857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6217920" y="1828800"/>
            <a:ext cx="64008" cy="310896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6419088" y="1993392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AGENTE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19088" y="2395728"/>
            <a:ext cx="2194560" cy="2395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AAB1C5"/>
                </a:solidFill>
              </a:rPr>
              <a:t>Investiga, decide, usa herramientas y conversa sobre los hallazgos.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006840" y="1828800"/>
            <a:ext cx="2560320" cy="3108960"/>
          </a:xfrm>
          <a:prstGeom prst="roundRect">
            <a:avLst>
              <a:gd name="adj" fmla="val 2857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Shape 16"/>
          <p:cNvSpPr/>
          <p:nvPr/>
        </p:nvSpPr>
        <p:spPr>
          <a:xfrm>
            <a:off x="9006840" y="1828800"/>
            <a:ext cx="64008" cy="310896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9208008" y="1993392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SUBAGENTE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208008" y="2395728"/>
            <a:ext cx="2194560" cy="2395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AAB1C5"/>
                </a:solidFill>
              </a:rPr>
              <a:t>Realiza la revisión dentro de una tarea mayor y devuelve conclusiones.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14400" y="54864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7F8FC"/>
                </a:solidFill>
              </a:rPr>
              <a:t>La diferencia está en autonomía, responsabilidad, reutilización y aislamiento.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B1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4663440" y="777240"/>
            <a:ext cx="2880360" cy="365760"/>
          </a:xfrm>
          <a:prstGeom prst="roundRect">
            <a:avLst>
              <a:gd name="adj" fmla="val 50000"/>
            </a:avLst>
          </a:prstGeom>
          <a:solidFill>
            <a:srgbClr val="6D28D9">
              <a:alpha val="88000"/>
            </a:srgbClr>
          </a:solidFill>
          <a:ln w="12700">
            <a:solidFill>
              <a:srgbClr val="6D28D9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4663440" y="859536"/>
            <a:ext cx="2880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7F8FC"/>
                </a:solidFill>
              </a:rPr>
              <a:t>TRES IDEAS PARA LLEVARTE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188720" y="182880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D3EE"/>
                </a:solidFill>
              </a:rPr>
              <a:t>1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737360" y="186537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7F8FC"/>
                </a:solidFill>
              </a:rPr>
              <a:t>No empieces creando agentes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737360" y="230428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B1C5"/>
                </a:solidFill>
              </a:rPr>
              <a:t>Primero identifica reglas, procedimientos y responsabilidades.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0" y="182880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4D399"/>
                </a:solidFill>
              </a:rPr>
              <a:t>2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6949440" y="186537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7F8FC"/>
                </a:solidFill>
              </a:rPr>
              <a:t>Las skills son capacidades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949440" y="230428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B1C5"/>
                </a:solidFill>
              </a:rPr>
              <a:t>Encapsulan conocimiento operativo reutilizable.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333756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8B5CF6"/>
                </a:solidFill>
              </a:rPr>
              <a:t>3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1737360" y="337413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7F8FC"/>
                </a:solidFill>
              </a:rPr>
              <a:t>Los subagentes son orquestación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737360" y="381304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B1C5"/>
                </a:solidFill>
              </a:rPr>
              <a:t>Delegan trabajo temporal sin perder el objetivo global.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4800600"/>
            <a:ext cx="10195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7F8FC"/>
                </a:solidFill>
              </a:rPr>
              <a:t>El futuro no consiste en saber pedir código a una IA.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7F8FC"/>
                </a:solidFill>
              </a:rPr>
              <a:t>Consiste en saber diseñar el equipo, el contexto y los límites con los que esa IA trabaja.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63440" y="59618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2D3EE"/>
                </a:solidFill>
              </a:rPr>
              <a:t>¿Preguntas?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1628</Words>
  <Application>Microsoft Office PowerPoint</Application>
  <PresentationFormat>Panorámica</PresentationFormat>
  <Paragraphs>308</Paragraphs>
  <Slides>17</Slides>
  <Notes>17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1" baseType="lpstr">
      <vt:lpstr>Aptos</vt:lpstr>
      <vt:lpstr>Aptos Mono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TenerifeDev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 próximo compañero de equipo será un agente</dc:title>
  <dc:subject>Agentes, skills y subagentes en GitHub Copilot</dc:subject>
  <dc:creator>Santiago Porras Rodríguez</dc:creator>
  <cp:lastModifiedBy>Santiago Porras Rodríguez</cp:lastModifiedBy>
  <cp:revision>5</cp:revision>
  <dcterms:created xsi:type="dcterms:W3CDTF">2026-09-19T00:02:31Z</dcterms:created>
  <dcterms:modified xsi:type="dcterms:W3CDTF">2026-10-16T23:57:00Z</dcterms:modified>
</cp:coreProperties>
</file>