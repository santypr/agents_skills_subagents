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96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https://docs.github.com/en/copilot/concepts/agents/about-agent-skills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https://awesome-copilot.github.com/learning-hub/agents-and-subagents/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https://docs.github.com/en/copilot/concepts/agents/about-agent-skills
- https://awesome-copilot.github.com/learning-hub/agents-and-subagents/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https://docs.github.com/en/copilot/how-tos/copilot-sdk/features/custom-agents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https://docs.github.com/en/copilot/how-tos/copilot-sdk/features/custom-agents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https://docs.github.com/en/copilot/concepts/agents/about-agent-skills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https://docs.github.com/en/copilot/concepts/agents/about-agent-skills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https://awesome-copilot.github.com/learning-hub/agents-and-subagents/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https://docs.github.com/en/copilot/concepts/agents/about-agent-skills
- https://awesome-copilot.github.com/learning-hub/agents-and-subagents/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https://awesome-copilot.github.com/learning-hub/agents-and-subagents/
- https://docs.github.com/en/copilot/concepts/agents/about-agent-skills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https://docs.github.com/en/copilot/how-tos/copilot-sdk/features/custom-agents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https://docs.github.com/en/copilot/how-tos/copilot-sdk/features/custom-agents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https://docs.github.com/en/copilot/concepts/agents/about-agent-skills
- https://awesome-copilot.github.com/learning-hub/agents-and-subagents/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69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· AGENTES, SKILLS Y SUBAGENTES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9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SANTIAGO PORRAS RODRÍGUEZ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2261dc0a3f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05060A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640080" y="530352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6D28D9">
              <a:alpha val="88000"/>
            </a:srgbClr>
          </a:solidFill>
          <a:ln w="12700">
            <a:solidFill>
              <a:srgbClr val="6D28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40080" y="61264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8FC"/>
                </a:solidFill>
              </a:rPr>
              <a:t>GITHUB COPILOT · CHARLA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612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F8FC"/>
                </a:solidFill>
              </a:rPr>
              <a:t>Tu próximo compañero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7F8FC"/>
                </a:solidFill>
              </a:rPr>
              <a:t>de equipo será un agente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" y="2971800"/>
            <a:ext cx="5257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DCED"/>
                </a:solidFill>
              </a:rPr>
              <a:t>Agentes, skills y subagentes: qué son, en qué se diferencian y cuándo crear cada uno.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58368" y="59893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</a:rPr>
              <a:t>Santiago Porras Rodríguez  ·  Software &amp; Cloud Architect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01 · CAMBIO DE PARADIGMA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Copilot ya no es solo autocompletado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Estamos pasando de pedir fragmentos de código a diseñar sistemas de trabajo para agentes.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691640" cy="1005840"/>
          </a:xfrm>
          <a:prstGeom prst="roundRect">
            <a:avLst>
              <a:gd name="adj" fmla="val 10909"/>
            </a:avLst>
          </a:prstGeom>
          <a:solidFill>
            <a:srgbClr val="1B2032"/>
          </a:solidFill>
          <a:ln w="19050">
            <a:solidFill>
              <a:srgbClr val="AAB1C5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13232" y="2459736"/>
            <a:ext cx="1545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AUTOCOMPLETADO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Predice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50008" y="2834640"/>
            <a:ext cx="502920" cy="1"/>
          </a:xfrm>
          <a:prstGeom prst="line">
            <a:avLst/>
          </a:prstGeom>
          <a:noFill/>
          <a:ln w="20320">
            <a:solidFill>
              <a:srgbClr val="2A31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926080" y="2331720"/>
            <a:ext cx="1691640" cy="1005840"/>
          </a:xfrm>
          <a:prstGeom prst="roundRect">
            <a:avLst>
              <a:gd name="adj" fmla="val 10909"/>
            </a:avLst>
          </a:prstGeom>
          <a:solidFill>
            <a:srgbClr val="1B2032"/>
          </a:solidFill>
          <a:ln w="19050">
            <a:solidFill>
              <a:srgbClr val="22D3EE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999232" y="2459736"/>
            <a:ext cx="1545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CHAT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Responde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36008" y="2834640"/>
            <a:ext cx="502920" cy="1"/>
          </a:xfrm>
          <a:prstGeom prst="line">
            <a:avLst/>
          </a:prstGeom>
          <a:noFill/>
          <a:ln w="20320">
            <a:solidFill>
              <a:srgbClr val="2A31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5212080" y="2331720"/>
            <a:ext cx="1691640" cy="1005840"/>
          </a:xfrm>
          <a:prstGeom prst="roundRect">
            <a:avLst>
              <a:gd name="adj" fmla="val 10909"/>
            </a:avLst>
          </a:prstGeom>
          <a:solidFill>
            <a:srgbClr val="1B2032"/>
          </a:solidFill>
          <a:ln w="19050">
            <a:solidFill>
              <a:srgbClr val="8B5CF6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285232" y="2459736"/>
            <a:ext cx="1545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MODO AGENTE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Actúa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22008" y="2834640"/>
            <a:ext cx="502920" cy="1"/>
          </a:xfrm>
          <a:prstGeom prst="line">
            <a:avLst/>
          </a:prstGeom>
          <a:noFill/>
          <a:ln w="20320">
            <a:solidFill>
              <a:srgbClr val="2A31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498080" y="2331720"/>
            <a:ext cx="1691640" cy="1005840"/>
          </a:xfrm>
          <a:prstGeom prst="roundRect">
            <a:avLst>
              <a:gd name="adj" fmla="val 10909"/>
            </a:avLst>
          </a:prstGeom>
          <a:solidFill>
            <a:srgbClr val="1B2032"/>
          </a:solidFill>
          <a:ln w="19050">
            <a:solidFill>
              <a:srgbClr val="34D399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571232" y="2459736"/>
            <a:ext cx="1545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ESPECIALIZACIÓN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Aprende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08008" y="2834640"/>
            <a:ext cx="502920" cy="1"/>
          </a:xfrm>
          <a:prstGeom prst="line">
            <a:avLst/>
          </a:prstGeom>
          <a:noFill/>
          <a:ln w="20320">
            <a:solidFill>
              <a:srgbClr val="2A31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9784080" y="2331720"/>
            <a:ext cx="1691640" cy="1005840"/>
          </a:xfrm>
          <a:prstGeom prst="roundRect">
            <a:avLst>
              <a:gd name="adj" fmla="val 10909"/>
            </a:avLst>
          </a:prstGeom>
          <a:solidFill>
            <a:srgbClr val="1B2032"/>
          </a:solidFill>
          <a:ln w="19050">
            <a:solidFill>
              <a:srgbClr val="FBBF24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857232" y="2459736"/>
            <a:ext cx="1545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ORQUESTACIÓN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Delega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F8FC"/>
                </a:solidFill>
              </a:rPr>
              <a:t>La nueva habilidad del desarrollador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1C5"/>
                </a:solidFill>
              </a:rPr>
              <a:t>No es escribir prompts cada vez más largos. Es diseñar contexto, capacidades, responsabilidades y límites.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863840" y="397764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6D28D9">
              <a:alpha val="58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8138160" y="43159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7F8FC"/>
                </a:solidFill>
              </a:rPr>
              <a:t>¿Qué crearías para revisar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7F8FC"/>
                </a:solidFill>
              </a:rPr>
              <a:t>la seguridad de una API?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02 · MAPA MENTAL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Cuatro piezas que no son intercambiables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Cada una resuelve un tipo distinto de problema.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008" cy="3200400"/>
          </a:xfrm>
          <a:prstGeom prst="rect">
            <a:avLst/>
          </a:prstGeom>
          <a:solidFill>
            <a:srgbClr val="AAB1C5"/>
          </a:solidFill>
          <a:ln w="12700">
            <a:solidFill>
              <a:srgbClr val="AAB1C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41248" y="19933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INSTRUCCIONES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219456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50" dirty="0">
                <a:solidFill>
                  <a:srgbClr val="AAB1C5"/>
                </a:solidFill>
              </a:rPr>
              <a:t>Reglas y convenciones estables.</a:t>
            </a:r>
            <a:endParaRPr lang="en-US" sz="1150" dirty="0"/>
          </a:p>
          <a:p>
            <a:r>
              <a:rPr lang="en-US" sz="1150" dirty="0">
                <a:solidFill>
                  <a:srgbClr val="AAB1C5"/>
                </a:solidFill>
              </a:rPr>
              <a:t>Qué debe respetar Copilot.</a:t>
            </a:r>
            <a:endParaRPr lang="en-US" sz="1150" dirty="0"/>
          </a:p>
          <a:p>
            <a:r>
              <a:rPr lang="en-US" sz="1150" dirty="0">
                <a:solidFill>
                  <a:srgbClr val="AAB1C5"/>
                </a:solidFill>
              </a:rPr>
              <a:t>Contexto del proyecto.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64008" cy="3200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30168" y="19933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SKILL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30168" y="2395728"/>
            <a:ext cx="219456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50" dirty="0">
                <a:solidFill>
                  <a:srgbClr val="AAB1C5"/>
                </a:solidFill>
              </a:rPr>
              <a:t>Procedimiento reutilizable.</a:t>
            </a:r>
            <a:endParaRPr lang="en-US" sz="1150" dirty="0"/>
          </a:p>
          <a:p>
            <a:r>
              <a:rPr lang="en-US" sz="1150" dirty="0">
                <a:solidFill>
                  <a:srgbClr val="AAB1C5"/>
                </a:solidFill>
              </a:rPr>
              <a:t>Cómo realizar una tarea.</a:t>
            </a:r>
            <a:endParaRPr lang="en-US" sz="1150" dirty="0"/>
          </a:p>
          <a:p>
            <a:r>
              <a:rPr lang="en-US" sz="1150" dirty="0">
                <a:solidFill>
                  <a:srgbClr val="AAB1C5"/>
                </a:solidFill>
              </a:rPr>
              <a:t>Puede incluir scripts y recursos.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64008" cy="3200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419088" y="19933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AGENTE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2395728"/>
            <a:ext cx="219456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50" dirty="0">
                <a:solidFill>
                  <a:srgbClr val="AAB1C5"/>
                </a:solidFill>
              </a:rPr>
              <a:t>Objetivo y responsabilidad.</a:t>
            </a:r>
            <a:endParaRPr lang="en-US" sz="1150" dirty="0"/>
          </a:p>
          <a:p>
            <a:r>
              <a:rPr lang="en-US" sz="1150" dirty="0">
                <a:solidFill>
                  <a:srgbClr val="AAB1C5"/>
                </a:solidFill>
              </a:rPr>
              <a:t>Decide pasos y herramientas.</a:t>
            </a:r>
            <a:endParaRPr lang="en-US" sz="1150" dirty="0"/>
          </a:p>
          <a:p>
            <a:r>
              <a:rPr lang="en-US" sz="1150" dirty="0">
                <a:solidFill>
                  <a:srgbClr val="AAB1C5"/>
                </a:solidFill>
              </a:rPr>
              <a:t>Mantiene el contexto amplio.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06840" y="182880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9006840" y="1828800"/>
            <a:ext cx="64008" cy="3200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9208008" y="19933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SUBAGENTE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08008" y="2395728"/>
            <a:ext cx="219456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50" dirty="0">
                <a:solidFill>
                  <a:srgbClr val="AAB1C5"/>
                </a:solidFill>
              </a:rPr>
              <a:t>Trabajo temporal delegado.</a:t>
            </a:r>
            <a:endParaRPr lang="en-US" sz="1150" dirty="0"/>
          </a:p>
          <a:p>
            <a:r>
              <a:rPr lang="en-US" sz="1150" dirty="0">
                <a:solidFill>
                  <a:srgbClr val="AAB1C5"/>
                </a:solidFill>
              </a:rPr>
              <a:t>Contexto aislado y estrecho.</a:t>
            </a:r>
            <a:endParaRPr lang="en-US" sz="1150" dirty="0"/>
          </a:p>
          <a:p>
            <a:r>
              <a:rPr lang="en-US" sz="1150" dirty="0">
                <a:solidFill>
                  <a:srgbClr val="AAB1C5"/>
                </a:solidFill>
              </a:rPr>
              <a:t>Devuelve resultados al principal.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51560" y="5257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AAB1C5"/>
                </a:solidFill>
              </a:rPr>
              <a:t>REGLAS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5257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34D399"/>
                </a:solidFill>
              </a:rPr>
              <a:t>CAPACIDAD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5257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8B5CF6"/>
                </a:solidFill>
              </a:rPr>
              <a:t>RESPONSABILIDAD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18320" y="5257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22D3EE"/>
                </a:solidFill>
              </a:rPr>
              <a:t>DELEGACIÓN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7CCDCB1-A7FF-5B79-F4D5-D2F70801A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145" y="3989029"/>
            <a:ext cx="1934038" cy="9670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" name="Imagen 27" descr="The Architect In The Matrix: Who Is He and What Role Does He Play ...">
            <a:extLst>
              <a:ext uri="{FF2B5EF4-FFF2-40B4-BE49-F238E27FC236}">
                <a16:creationId xmlns:a16="http://schemas.microsoft.com/office/drawing/2014/main" id="{4E8F3D59-0EA8-2AEE-1FE1-239A78E3E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048" y="4044777"/>
            <a:ext cx="1520928" cy="8555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9" name="Imagen 28" descr="What Happened to The Keymaker | MATRIX EXPLAINED - YouTube">
            <a:extLst>
              <a:ext uri="{FF2B5EF4-FFF2-40B4-BE49-F238E27FC236}">
                <a16:creationId xmlns:a16="http://schemas.microsoft.com/office/drawing/2014/main" id="{131B5134-7BD9-27BB-8BDC-A1598EE0BC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084" y="4068710"/>
            <a:ext cx="1435831" cy="8076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Imagen 30" descr="Matrix Wallpapers HD - Wallpaper Cave">
            <a:extLst>
              <a:ext uri="{FF2B5EF4-FFF2-40B4-BE49-F238E27FC236}">
                <a16:creationId xmlns:a16="http://schemas.microsoft.com/office/drawing/2014/main" id="{4E4F83D5-E6BF-3D8C-6BE7-CD5366AD99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9488" y="3989029"/>
            <a:ext cx="1241503" cy="9311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03 · PRIMERA CAPA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Instrucciones: las reglas del terreno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Antes de especializar Copilot, deja claras las convenciones que nunca debería negociar.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4572000" cy="3566160"/>
          </a:xfrm>
          <a:prstGeom prst="roundRect">
            <a:avLst>
              <a:gd name="adj" fmla="val 2564"/>
            </a:avLst>
          </a:prstGeom>
          <a:solidFill>
            <a:srgbClr val="0E1220"/>
          </a:solidFill>
          <a:ln w="12700">
            <a:solidFill>
              <a:srgbClr val="2A31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39319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Este repositorio utiliza arquitectura hexagonal.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E0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Los controladores no acceden directamente a Entity Framework.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E0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Todos los endpoints incluyen pruebas de integración.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9E0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Los errores usan Problem Details.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15000" y="18288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715000" y="1828800"/>
            <a:ext cx="64008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916168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ÁMBITO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16168" y="2395728"/>
            <a:ext cx="2148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AB1C5"/>
                </a:solidFill>
              </a:rPr>
              <a:t>Repositorio, organización o usuario.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58200" y="18288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8458200" y="1828800"/>
            <a:ext cx="64008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659368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NATURALEZA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59368" y="2395728"/>
            <a:ext cx="2148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AB1C5"/>
                </a:solidFill>
              </a:rPr>
              <a:t>Estables y siempre aplicables.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15000" y="32461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5715000" y="3246120"/>
            <a:ext cx="64008" cy="1143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916168" y="341071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NO SON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16168" y="3813048"/>
            <a:ext cx="2148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AB1C5"/>
                </a:solidFill>
              </a:rPr>
              <a:t>Un workflow completo ni un rol.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58200" y="32461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8458200" y="3246120"/>
            <a:ext cx="64008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659368" y="341071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PREGUNTA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59368" y="3813048"/>
            <a:ext cx="2148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AB1C5"/>
                </a:solidFill>
              </a:rPr>
              <a:t>¿Cómo trabajamos aquí?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760720" y="4892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8FC"/>
                </a:solidFill>
              </a:rPr>
              <a:t>Base recomendada: instrucciones primero, especialización después.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04 · LA ENTIDAD QUE ACTÚA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Agente: objetivo, decisiones y herramientas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Un agente persigue un resultado, ajusta el plan y decide qué capacidad utilizar.</a:t>
            </a:r>
            <a:endParaRPr lang="en-US" sz="1400" dirty="0"/>
          </a:p>
        </p:txBody>
      </p:sp>
      <p:pic>
        <p:nvPicPr>
          <p:cNvPr id="5" name="Image 0" descr="/mnt/data/6e99a682bd.png"/>
          <p:cNvPicPr>
            <a:picLocks noChangeAspect="1"/>
          </p:cNvPicPr>
          <p:nvPr/>
        </p:nvPicPr>
        <p:blipFill>
          <a:blip r:embed="rId3"/>
          <a:srcRect l="13918" r="13918"/>
          <a:stretch/>
        </p:blipFill>
        <p:spPr>
          <a:xfrm>
            <a:off x="6858000" y="1691640"/>
            <a:ext cx="480060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" y="178308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13232" y="187452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8FC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18105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8FC"/>
                </a:solidFill>
              </a:rPr>
              <a:t>INTERPRETA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88920" y="18105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1C5"/>
                </a:solidFill>
              </a:rPr>
              <a:t>Objetivo y contexto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13232" y="260604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13232" y="269748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8FC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25880" y="26334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8FC"/>
                </a:solidFill>
              </a:rPr>
              <a:t>PLANIFICA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788920" y="2633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1C5"/>
                </a:solidFill>
              </a:rPr>
              <a:t>Pasos y dependencias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3232" y="342900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713232" y="352044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8FC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325880" y="34564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8FC"/>
                </a:solidFill>
              </a:rPr>
              <a:t>ACTÚA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788920" y="34564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1C5"/>
                </a:solidFill>
              </a:rPr>
              <a:t>Herramientas y cambios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13232" y="4251960"/>
            <a:ext cx="420624" cy="42062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713232" y="43434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8FC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25880" y="42793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8FC"/>
                </a:solidFill>
              </a:rPr>
              <a:t>OBSERVA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788920" y="42793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1C5"/>
                </a:solidFill>
              </a:rPr>
              <a:t>Resultados y errores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13232" y="5074920"/>
            <a:ext cx="420624" cy="42062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713232" y="516636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8FC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25880" y="51023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8FC"/>
                </a:solidFill>
              </a:rPr>
              <a:t>AJUSTA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788920" y="51023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1C5"/>
                </a:solidFill>
              </a:rPr>
              <a:t>Continúa o corrige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13232" y="5833872"/>
            <a:ext cx="5394960" cy="365760"/>
          </a:xfrm>
          <a:prstGeom prst="roundRect">
            <a:avLst>
              <a:gd name="adj" fmla="val 50000"/>
            </a:avLst>
          </a:prstGeom>
          <a:solidFill>
            <a:srgbClr val="6D28D9">
              <a:alpha val="88000"/>
            </a:srgbClr>
          </a:solidFill>
          <a:ln w="12700">
            <a:solidFill>
              <a:srgbClr val="6D28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713232" y="5916168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8FC"/>
                </a:solidFill>
              </a:rPr>
              <a:t>Crea un agente cuando necesites criterio y responsabilidad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05 · DECISIÓN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¿Cuándo merece existir un agente?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La identidad técnica debe justificar autonomía, herramientas o responsabilidades propias.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4983480" cy="868680"/>
          </a:xfrm>
          <a:prstGeom prst="roundRect">
            <a:avLst>
              <a:gd name="adj" fmla="val 10526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886968" y="1984248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86968" y="206654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27048" y="2039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8FC"/>
                </a:solidFill>
              </a:rPr>
              <a:t>Objetivo relativamente amplio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4983480" cy="868680"/>
          </a:xfrm>
          <a:prstGeom prst="roundRect">
            <a:avLst>
              <a:gd name="adj" fmla="val 10526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464808" y="1984248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64808" y="206654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04888" y="2039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8FC"/>
                </a:solidFill>
              </a:rPr>
              <a:t>Criterios propios de decisión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017520"/>
            <a:ext cx="4983480" cy="868680"/>
          </a:xfrm>
          <a:prstGeom prst="roundRect">
            <a:avLst>
              <a:gd name="adj" fmla="val 10526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886968" y="3218688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86968" y="330098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27048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8FC"/>
                </a:solidFill>
              </a:rPr>
              <a:t>Herramientas o permisos específicos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3017520"/>
            <a:ext cx="4983480" cy="868680"/>
          </a:xfrm>
          <a:prstGeom prst="roundRect">
            <a:avLst>
              <a:gd name="adj" fmla="val 10526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464808" y="3218688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464808" y="330098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04888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8FC"/>
                </a:solidFill>
              </a:rPr>
              <a:t>Interacción directa con el usuario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5800" y="4251960"/>
            <a:ext cx="4983480" cy="868680"/>
          </a:xfrm>
          <a:prstGeom prst="roundRect">
            <a:avLst>
              <a:gd name="adj" fmla="val 10526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886968" y="4453128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886968" y="453542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27048" y="4507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8FC"/>
                </a:solidFill>
              </a:rPr>
              <a:t>Coordinación de varias actividades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63640" y="4251960"/>
            <a:ext cx="4983480" cy="868680"/>
          </a:xfrm>
          <a:prstGeom prst="roundRect">
            <a:avLst>
              <a:gd name="adj" fmla="val 10526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464808" y="4453128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464808" y="453542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04888" y="4507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8FC"/>
                </a:solidFill>
              </a:rPr>
              <a:t>Comportamiento estable durante la sesión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5800" y="5715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D3EE"/>
                </a:solidFill>
              </a:rPr>
              <a:t>Ejemplos: Architecture Agent · Migration Agent · Security Review Agent · Documentation Agent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B41D2438-9967-8EB7-A344-96AFBD719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568" y="1389888"/>
            <a:ext cx="3048000" cy="4572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06 · CAPACIDAD REUTILIZABLE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Skill: enseñar a Copilot cómo hacer algo bien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Una carpeta autocontenida de instrucciones, scripts y recursos que se carga cuando resulta relevante.</a:t>
            </a:r>
            <a:endParaRPr lang="en-US" sz="1400" dirty="0"/>
          </a:p>
        </p:txBody>
      </p:sp>
      <p:pic>
        <p:nvPicPr>
          <p:cNvPr id="5" name="Image 0" descr="/mnt/data/a2f9117e56.png"/>
          <p:cNvPicPr>
            <a:picLocks noChangeAspect="1"/>
          </p:cNvPicPr>
          <p:nvPr/>
        </p:nvPicPr>
        <p:blipFill>
          <a:blip r:embed="rId3"/>
          <a:srcRect l="10884" r="10884"/>
          <a:stretch/>
        </p:blipFill>
        <p:spPr>
          <a:xfrm>
            <a:off x="640080" y="1691640"/>
            <a:ext cx="525780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82880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.github/skills/create-api-endpoint/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10528" y="2468880"/>
            <a:ext cx="457200" cy="1"/>
          </a:xfrm>
          <a:prstGeom prst="line">
            <a:avLst/>
          </a:prstGeom>
          <a:noFill/>
          <a:ln w="25400">
            <a:solidFill>
              <a:srgbClr val="2A31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995160" y="2313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D3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◆ SKILL.md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10528" y="3035808"/>
            <a:ext cx="457200" cy="1"/>
          </a:xfrm>
          <a:prstGeom prst="line">
            <a:avLst/>
          </a:prstGeom>
          <a:noFill/>
          <a:ln w="25400">
            <a:solidFill>
              <a:srgbClr val="2A31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99516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8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 scripts/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510528" y="3602736"/>
            <a:ext cx="457200" cy="1"/>
          </a:xfrm>
          <a:prstGeom prst="line">
            <a:avLst/>
          </a:prstGeom>
          <a:noFill/>
          <a:ln w="25400">
            <a:solidFill>
              <a:srgbClr val="2A31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995160" y="3447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8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 references/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510528" y="4169664"/>
            <a:ext cx="457200" cy="1"/>
          </a:xfrm>
          <a:prstGeom prst="line">
            <a:avLst/>
          </a:prstGeom>
          <a:noFill/>
          <a:ln w="25400">
            <a:solidFill>
              <a:srgbClr val="2A31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995160" y="4014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8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 assets/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10528" y="4736592"/>
            <a:ext cx="457200" cy="1"/>
          </a:xfrm>
          <a:prstGeom prst="line">
            <a:avLst/>
          </a:prstGeom>
          <a:noFill/>
          <a:ln w="25400">
            <a:solidFill>
              <a:srgbClr val="2A31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6995160" y="4581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8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 examples/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309360" y="5440680"/>
            <a:ext cx="4800600" cy="566928"/>
          </a:xfrm>
          <a:prstGeom prst="roundRect">
            <a:avLst>
              <a:gd name="adj" fmla="val 19355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537960" y="560527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7F8FC"/>
                </a:solidFill>
              </a:rPr>
              <a:t>Pregunta clave: ¿cómo se realiza esta tarea repetible?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07 · DECISIÓN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¿Cuándo crear una skill?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Busca repetición, claridad de entradas y salidas, y conocimiento procedimental compartible.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3474720"/>
          </a:xfrm>
          <a:prstGeom prst="roundRect">
            <a:avLst>
              <a:gd name="adj" fmla="val 2105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64008" cy="3474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86968" y="1947672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SÍ, PROBABLEMENTE UNA SKILL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489204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dirty="0">
                <a:solidFill>
                  <a:srgbClr val="AAB1C5"/>
                </a:solidFill>
              </a:rPr>
              <a:t>El procedimiento se repite</a:t>
            </a:r>
            <a:endParaRPr lang="en-US" dirty="0"/>
          </a:p>
          <a:p>
            <a:r>
              <a:rPr lang="en-US" dirty="0">
                <a:solidFill>
                  <a:srgbClr val="AAB1C5"/>
                </a:solidFill>
              </a:rPr>
              <a:t>Los pasos son relativamente estables</a:t>
            </a:r>
            <a:endParaRPr lang="en-US" dirty="0"/>
          </a:p>
          <a:p>
            <a:r>
              <a:rPr lang="en-US" dirty="0">
                <a:solidFill>
                  <a:srgbClr val="AAB1C5"/>
                </a:solidFill>
              </a:rPr>
              <a:t>Necesitas scripts o plantillas</a:t>
            </a:r>
            <a:endParaRPr lang="en-US" dirty="0"/>
          </a:p>
          <a:p>
            <a:r>
              <a:rPr lang="en-US" dirty="0">
                <a:solidFill>
                  <a:srgbClr val="AAB1C5"/>
                </a:solidFill>
              </a:rPr>
              <a:t>Varios agentes podrían reutilizarlo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3474720"/>
          </a:xfrm>
          <a:prstGeom prst="roundRect">
            <a:avLst>
              <a:gd name="adj" fmla="val 2105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64008" cy="3474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64808" y="1947672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TAMBIÉN ES BUENA SEÑAL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64808" y="2350008"/>
            <a:ext cx="489204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dirty="0">
                <a:solidFill>
                  <a:srgbClr val="AAB1C5"/>
                </a:solidFill>
              </a:rPr>
              <a:t>Entradas y resultados claros</a:t>
            </a:r>
            <a:endParaRPr lang="en-US" dirty="0"/>
          </a:p>
          <a:p>
            <a:r>
              <a:rPr lang="en-US" dirty="0">
                <a:solidFill>
                  <a:srgbClr val="AAB1C5"/>
                </a:solidFill>
              </a:rPr>
              <a:t>Quieres reducir prompts extensos</a:t>
            </a:r>
            <a:endParaRPr lang="en-US" dirty="0"/>
          </a:p>
          <a:p>
            <a:r>
              <a:rPr lang="en-US" dirty="0">
                <a:solidFill>
                  <a:srgbClr val="AAB1C5"/>
                </a:solidFill>
              </a:rPr>
              <a:t>No necesita identidad propia</a:t>
            </a:r>
            <a:endParaRPr lang="en-US" dirty="0"/>
          </a:p>
          <a:p>
            <a:r>
              <a:rPr lang="en-US" dirty="0">
                <a:solidFill>
                  <a:srgbClr val="AAB1C5"/>
                </a:solidFill>
              </a:rPr>
              <a:t>Debe evolucionar de forma independiente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7F8FC"/>
                </a:solidFill>
              </a:rPr>
              <a:t>“Cada vez que creemos un endpoint, sigamos este proceso.”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F18BFB6-2612-E7D5-C21D-9A9E37BE5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904" y="1627632"/>
            <a:ext cx="3005328" cy="450799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08 · DELEGACIÓN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Subagente: un especialista temporal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El agente principal conserva el objetivo global. El subagente recibe una misión estrecha y devuelve el resultado.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1B2032"/>
          </a:solidFill>
          <a:ln w="19050">
            <a:solidFill>
              <a:srgbClr val="AAB1C5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58952" y="2459736"/>
            <a:ext cx="1682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USUARIO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2834640"/>
            <a:ext cx="1143000" cy="1"/>
          </a:xfrm>
          <a:prstGeom prst="line">
            <a:avLst/>
          </a:prstGeom>
          <a:noFill/>
          <a:ln w="20320">
            <a:solidFill>
              <a:srgbClr val="2A31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0" y="210312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1B2032"/>
          </a:solidFill>
          <a:ln w="19050">
            <a:solidFill>
              <a:srgbClr val="8B5CF6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730752" y="2231136"/>
            <a:ext cx="20482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AGENTE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PRINCIPAL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V="1">
            <a:off x="5852160" y="2267712"/>
            <a:ext cx="1600200" cy="566928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7452360" y="1828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B2032"/>
          </a:solidFill>
          <a:ln w="19050">
            <a:solidFill>
              <a:srgbClr val="22D3EE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525512" y="1956816"/>
            <a:ext cx="1911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INVESTIGACIÓN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509760" y="2267712"/>
            <a:ext cx="1143000" cy="566928"/>
          </a:xfrm>
          <a:prstGeom prst="line">
            <a:avLst/>
          </a:prstGeom>
          <a:noFill/>
          <a:ln w="20320">
            <a:solidFill>
              <a:srgbClr val="2A31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852160" y="2834640"/>
            <a:ext cx="1600200" cy="484632"/>
          </a:xfrm>
          <a:prstGeom prst="line">
            <a:avLst/>
          </a:prstGeom>
          <a:noFill/>
          <a:ln w="20320">
            <a:solidFill>
              <a:srgbClr val="FB71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7452360" y="288036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B2032"/>
          </a:solidFill>
          <a:ln w="19050">
            <a:solidFill>
              <a:srgbClr val="FB7185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525512" y="3008376"/>
            <a:ext cx="1911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SEGURIDAD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V="1">
            <a:off x="9509760" y="2834640"/>
            <a:ext cx="1143000" cy="484632"/>
          </a:xfrm>
          <a:prstGeom prst="line">
            <a:avLst/>
          </a:prstGeom>
          <a:noFill/>
          <a:ln w="20320">
            <a:solidFill>
              <a:srgbClr val="2A31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852160" y="2834640"/>
            <a:ext cx="1600200" cy="1536192"/>
          </a:xfrm>
          <a:prstGeom prst="line">
            <a:avLst/>
          </a:prstGeom>
          <a:noFill/>
          <a:ln w="2032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7452360" y="393192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B2032"/>
          </a:solidFill>
          <a:ln w="19050">
            <a:solidFill>
              <a:srgbClr val="34D399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525512" y="4059936"/>
            <a:ext cx="1911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TESTING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flipV="1">
            <a:off x="9509760" y="2834640"/>
            <a:ext cx="1143000" cy="1536192"/>
          </a:xfrm>
          <a:prstGeom prst="line">
            <a:avLst/>
          </a:prstGeom>
          <a:noFill/>
          <a:ln w="20320">
            <a:solidFill>
              <a:srgbClr val="2A31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10652760" y="2331720"/>
            <a:ext cx="914400" cy="1005840"/>
          </a:xfrm>
          <a:prstGeom prst="roundRect">
            <a:avLst>
              <a:gd name="adj" fmla="val 12000"/>
            </a:avLst>
          </a:prstGeom>
          <a:solidFill>
            <a:srgbClr val="1B2032"/>
          </a:solidFill>
          <a:ln w="19050">
            <a:solidFill>
              <a:srgbClr val="FBBF24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10725912" y="2459736"/>
            <a:ext cx="768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SÍNTESIS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525780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6D28D9">
              <a:alpha val="88000"/>
            </a:srgbClr>
          </a:solidFill>
          <a:ln w="12700">
            <a:solidFill>
              <a:srgbClr val="6D28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474720" y="534009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8FC"/>
                </a:solidFill>
              </a:rPr>
              <a:t>Aislar · Especializar · Paralelizar · Sintetizar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CC2C1860-88A6-FC6A-756E-BDECB2ECD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381" y="1330365"/>
            <a:ext cx="7305238" cy="487015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09 · LA DIFERENCIA ESENCIAL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Una frase para recordar cada concepto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Si dudas entre dos opciones, vuelve a la responsabilidad que estás modelando.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0744200" cy="777240"/>
          </a:xfrm>
          <a:prstGeom prst="roundRect">
            <a:avLst>
              <a:gd name="adj" fmla="val 14118"/>
            </a:avLst>
          </a:prstGeom>
          <a:solidFill>
            <a:srgbClr val="131725"/>
          </a:solidFill>
          <a:ln w="15240">
            <a:solidFill>
              <a:srgbClr val="AAB1C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AAB1C5"/>
                </a:solidFill>
              </a:rPr>
              <a:t>INSTRUCCIÓN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19202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8FC"/>
                </a:solidFill>
              </a:rPr>
              <a:t>“Estas son las reglas que debes respetar.”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816352"/>
            <a:ext cx="10744200" cy="777240"/>
          </a:xfrm>
          <a:prstGeom prst="roundRect">
            <a:avLst>
              <a:gd name="adj" fmla="val 14118"/>
            </a:avLst>
          </a:prstGeom>
          <a:solidFill>
            <a:srgbClr val="131725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005840" y="3044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34D399"/>
                </a:solidFill>
              </a:rPr>
              <a:t>SKILL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2999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8FC"/>
                </a:solidFill>
              </a:rPr>
              <a:t>“Así se realiza correctamente esta tarea.”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895344"/>
            <a:ext cx="10744200" cy="777240"/>
          </a:xfrm>
          <a:prstGeom prst="roundRect">
            <a:avLst>
              <a:gd name="adj" fmla="val 14118"/>
            </a:avLst>
          </a:prstGeom>
          <a:solidFill>
            <a:srgbClr val="131725"/>
          </a:solidFill>
          <a:ln w="152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005840" y="4123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8B5CF6"/>
                </a:solidFill>
              </a:rPr>
              <a:t>AGENTE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40782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8FC"/>
                </a:solidFill>
              </a:rPr>
              <a:t>“Este es tu objetivo y tu ámbito de responsabilidad.”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974336"/>
            <a:ext cx="10744200" cy="777240"/>
          </a:xfrm>
          <a:prstGeom prst="roundRect">
            <a:avLst>
              <a:gd name="adj" fmla="val 14118"/>
            </a:avLst>
          </a:prstGeom>
          <a:solidFill>
            <a:srgbClr val="131725"/>
          </a:solidFill>
          <a:ln w="152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005840" y="5202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22D3EE"/>
                </a:solidFill>
              </a:rPr>
              <a:t>SUBAGENTE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71800" y="51572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8FC"/>
                </a:solidFill>
              </a:rPr>
              <a:t>“Resuelve esta parte y devuelve el resultado.”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10 · ÁRBOL DE DECISIÓN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¿Qué debería crear?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Usa la opción más simple que represente correctamente el problema.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1B2032"/>
          </a:solidFill>
          <a:ln w="19050">
            <a:solidFill>
              <a:srgbClr val="AAB1C5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58952" y="2276856"/>
            <a:ext cx="2139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¿Reglas estables?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1B2032"/>
          </a:solidFill>
          <a:ln w="19050">
            <a:solidFill>
              <a:srgbClr val="AAB1C5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502152" y="19110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INSTRUCCIONES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2880360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1B2032"/>
          </a:solidFill>
          <a:ln w="19050">
            <a:solidFill>
              <a:srgbClr val="34D399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502152" y="3008376"/>
            <a:ext cx="2139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¿Proceso repetible?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514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1B2032"/>
          </a:solidFill>
          <a:ln w="19050">
            <a:solidFill>
              <a:srgbClr val="34D399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245352" y="2642616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SKILL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703320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1B2032"/>
          </a:solidFill>
          <a:ln w="19050">
            <a:solidFill>
              <a:srgbClr val="8B5CF6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245352" y="3831336"/>
            <a:ext cx="2139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¿Decide y actúa?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15400" y="333756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1B2032"/>
          </a:solidFill>
          <a:ln w="19050">
            <a:solidFill>
              <a:srgbClr val="8B5CF6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988552" y="3465576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AGENTE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4983480"/>
            <a:ext cx="2286000" cy="777240"/>
          </a:xfrm>
          <a:prstGeom prst="roundRect">
            <a:avLst>
              <a:gd name="adj" fmla="val 14118"/>
            </a:avLst>
          </a:prstGeom>
          <a:solidFill>
            <a:srgbClr val="1B2032"/>
          </a:solidFill>
          <a:ln w="19050">
            <a:solidFill>
              <a:srgbClr val="22D3EE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245352" y="5111496"/>
            <a:ext cx="2139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¿Se puede delegar?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15400" y="498348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1B2032"/>
          </a:solidFill>
          <a:ln w="19050">
            <a:solidFill>
              <a:srgbClr val="22D3EE"/>
            </a:solidFill>
            <a:prstDash val="solid"/>
          </a:ln>
          <a:effectLst>
            <a:outerShdw blurRad="1905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8988552" y="5111496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C"/>
                </a:solidFill>
              </a:rPr>
              <a:t>SUBAGENTE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flipV="1">
            <a:off x="2971800" y="2148840"/>
            <a:ext cx="457200" cy="384048"/>
          </a:xfrm>
          <a:prstGeom prst="line">
            <a:avLst/>
          </a:prstGeom>
          <a:noFill/>
          <a:ln w="20320">
            <a:solidFill>
              <a:srgbClr val="AAB1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2971800" y="2532888"/>
            <a:ext cx="457200" cy="731520"/>
          </a:xfrm>
          <a:prstGeom prst="line">
            <a:avLst/>
          </a:prstGeom>
          <a:noFill/>
          <a:ln w="20320">
            <a:solidFill>
              <a:srgbClr val="2A31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 flipV="1">
            <a:off x="5715000" y="2880360"/>
            <a:ext cx="457200" cy="384048"/>
          </a:xfrm>
          <a:prstGeom prst="line">
            <a:avLst/>
          </a:prstGeom>
          <a:noFill/>
          <a:ln w="2032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5715000" y="3264408"/>
            <a:ext cx="457200" cy="822960"/>
          </a:xfrm>
          <a:prstGeom prst="line">
            <a:avLst/>
          </a:prstGeom>
          <a:noFill/>
          <a:ln w="20320">
            <a:solidFill>
              <a:srgbClr val="2A31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 flipV="1">
            <a:off x="8458200" y="3703320"/>
            <a:ext cx="457200" cy="384048"/>
          </a:xfrm>
          <a:prstGeom prst="line">
            <a:avLst/>
          </a:prstGeom>
          <a:noFill/>
          <a:ln w="20320">
            <a:solidFill>
              <a:srgbClr val="8B5C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7315200" y="4480560"/>
            <a:ext cx="1" cy="502920"/>
          </a:xfrm>
          <a:prstGeom prst="line">
            <a:avLst/>
          </a:prstGeom>
          <a:noFill/>
          <a:ln w="20320">
            <a:solidFill>
              <a:srgbClr val="2A31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8458200" y="5367528"/>
            <a:ext cx="457200" cy="1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11 · ANTIPATRÓN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No construyas un ejército si basta una caja de herramientas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Más agentes también significan más coordinación, más contexto fragmentado y más puntos de conflicto.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64008" cy="36118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86968" y="1947672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❌ SOBREARQUITECTURA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4709160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AAB1C5"/>
                </a:solidFill>
              </a:rPr>
              <a:t>Agente de controladores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Agente de DTOs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Agente de logs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Agente de tests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Agente de README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64008" cy="3611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601968" y="1947672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✓ DISEÑO MÁS SIMPLE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01968" y="2350008"/>
            <a:ext cx="4709160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AAB1C5"/>
                </a:solidFill>
              </a:rPr>
              <a:t>Implementation Agent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Skill: create-endpoint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Skill: add-observability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Skill: generate-tests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Skill: update-docs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687568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8FC"/>
                </a:solidFill>
              </a:rPr>
              <a:t>Un ecosistema de agentes no mejora por tener más agentes. Igual que una arquitectura de microservicios no mejora por tener más microservicios.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12 · PATRONES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Tres arquitecturas que sí funcionan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Elige según tamaño del repositorio, heterogeneidad y necesidad de aislamiento.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4008" cy="3977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49808" y="185623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1 · GENERALISTA + SKILLS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3154680" cy="3264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AAB1C5"/>
                </a:solidFill>
              </a:rPr>
              <a:t>Development Agent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 ├ create-endpoint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 ├ create-migration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 ├ add-telemetry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  └ generate-tests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Ideal para equipos pequeños y repositorios homogéneos.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64008" cy="3977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44568" y="185623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2 · ORQUESTADOR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2258568"/>
            <a:ext cx="3154680" cy="3264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AAB1C5"/>
                </a:solidFill>
              </a:rPr>
              <a:t>Orchestrator Agent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 ├ Research Agent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 ├ Architecture Agent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 ├ Implementation Agent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  └ Review Agent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Ideal para cambios transversales y trabajo paralelo.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64008" cy="3977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339328" y="185623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3 · AGENTES + SKILLS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9328" y="2258568"/>
            <a:ext cx="3154680" cy="3264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AAB1C5"/>
                </a:solidFill>
              </a:rPr>
              <a:t>Architecture Agent       ─┐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Implementation Agent ├ Skills</a:t>
            </a:r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Review Agent ────────┘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AAB1C5"/>
                </a:solidFill>
              </a:rPr>
              <a:t>Ideal para compartir estándares sin duplicar conocimiento.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13 ·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De una petición vaga a un equipo de trabajo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Caso: añadir un endpoint de registro de dispositivos a una API .NET.</a:t>
            </a:r>
            <a:endParaRPr lang="en-US" sz="1400" dirty="0"/>
          </a:p>
        </p:txBody>
      </p:sp>
      <p:pic>
        <p:nvPicPr>
          <p:cNvPr id="5" name="Image 0" descr="/mnt/data/df96d50b83.png"/>
          <p:cNvPicPr>
            <a:picLocks noChangeAspect="1"/>
          </p:cNvPicPr>
          <p:nvPr/>
        </p:nvPicPr>
        <p:blipFill>
          <a:blip r:embed="rId3"/>
          <a:srcRect l="10606" r="10606"/>
          <a:stretch/>
        </p:blipFill>
        <p:spPr>
          <a:xfrm>
            <a:off x="6309360" y="1645920"/>
            <a:ext cx="534924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700784"/>
            <a:ext cx="438912" cy="438912"/>
          </a:xfrm>
          <a:prstGeom prst="ellipse">
            <a:avLst/>
          </a:prstGeom>
          <a:solidFill>
            <a:srgbClr val="AAB1C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85800" y="18013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8FC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325880" y="17099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1C5"/>
                </a:solidFill>
              </a:rPr>
              <a:t>PROMPT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834640" y="17099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8FC"/>
                </a:solidFill>
              </a:rPr>
              <a:t>“Añade un endpoint”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85800" y="2560320"/>
            <a:ext cx="438912" cy="43891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685800" y="266090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8FC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25880" y="25694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INSTRUCCIONES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834640" y="25694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8FC"/>
                </a:solidFill>
              </a:rPr>
              <a:t>Arquitectura y convenciones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85800" y="3419856"/>
            <a:ext cx="438912" cy="43891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685800" y="352044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8FC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325880" y="34290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SKILL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834640" y="3429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8FC"/>
                </a:solidFill>
              </a:rPr>
              <a:t>Proceso create-api-endpoint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85800" y="4279392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685800" y="437997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8FC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325880" y="42885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SUBAGENTES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834640" y="42885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8FC"/>
                </a:solidFill>
              </a:rPr>
              <a:t>Auth · Seguridad · Tests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85800" y="5138928"/>
            <a:ext cx="438912" cy="43891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685800" y="523951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8FC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325880" y="51480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SÍNTESIS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834640" y="51480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8FC"/>
                </a:solidFill>
              </a:rPr>
              <a:t>Plan, implementación y validación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14 · GOBIERNO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Cuando Copilot actúa, la seguridad deja de ser opcional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Trata cada agente y cada skill como software con permisos, dependencias y superficie de ataque.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64008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86968" y="194767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MÍNIMO PRIVILEGIO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2971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AB1C5"/>
                </a:solidFill>
              </a:rPr>
              <a:t>Solo las herramientas necesarias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17830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480560" y="1783080"/>
            <a:ext cx="64008" cy="1417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681728" y="194767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LECTURA ≠ ESCRITURA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81728" y="2350008"/>
            <a:ext cx="2971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AB1C5"/>
                </a:solidFill>
              </a:rPr>
              <a:t>Separa exploración y modificación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75320" y="17830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8275320" y="1783080"/>
            <a:ext cx="64008" cy="14173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476488" y="194767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SECRETOS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76488" y="2350008"/>
            <a:ext cx="2971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AB1C5"/>
                </a:solidFill>
              </a:rPr>
              <a:t>Nunca en prompts ni recursos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36576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85800" y="3657600"/>
            <a:ext cx="64008" cy="1417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86968" y="382219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TRAZABILIDAD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68" y="4224528"/>
            <a:ext cx="2971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AB1C5"/>
                </a:solidFill>
              </a:rPr>
              <a:t>Registra acciones y decisiones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80560" y="36576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480560" y="3657600"/>
            <a:ext cx="64008" cy="1417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681728" y="382219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REVISIÓN HUMANA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81728" y="4224528"/>
            <a:ext cx="2971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AB1C5"/>
                </a:solidFill>
              </a:rPr>
              <a:t>Operaciones sensibles requieren control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75320" y="36576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8275320" y="3657600"/>
            <a:ext cx="64008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8476488" y="382219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SKILLS EXTERNAS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76488" y="4224528"/>
            <a:ext cx="2971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AB1C5"/>
                </a:solidFill>
              </a:rPr>
              <a:t>Revísalas como una dependencia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57150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7F8FC"/>
                </a:solidFill>
              </a:rPr>
              <a:t>Permisos + contexto + herramientas + validación = confianza operativa</a:t>
            </a:r>
            <a:endParaRPr lang="en-US" sz="1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</a:rPr>
              <a:t>15 · RESPUESTA FINAL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8FC"/>
                </a:solidFill>
              </a:rPr>
              <a:t>¿Cómo revisarías la seguridad de una API?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El mismo dominio puede modelarse de cuatro formas según el nivel de autonomía.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008" cy="3108960"/>
          </a:xfrm>
          <a:prstGeom prst="rect">
            <a:avLst/>
          </a:prstGeom>
          <a:solidFill>
            <a:srgbClr val="AAB1C5"/>
          </a:solidFill>
          <a:ln w="12700">
            <a:solidFill>
              <a:srgbClr val="AAB1C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41248" y="19933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INSTRUCCIÓN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2194560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AB1C5"/>
                </a:solidFill>
              </a:rPr>
              <a:t>“Todos los endpoints deben validar autorización y no registrar datos sensibles.”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64008" cy="3108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30168" y="19933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SKILL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30168" y="2395728"/>
            <a:ext cx="2194560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AB1C5"/>
                </a:solidFill>
              </a:rPr>
              <a:t>Ejecuta un checklist repetible y genera el informe con una plantilla.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64008" cy="3108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419088" y="19933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AGENTE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2395728"/>
            <a:ext cx="2194560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AB1C5"/>
                </a:solidFill>
              </a:rPr>
              <a:t>Investiga, decide, usa herramientas y conversa sobre los hallazgos.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06840" y="182880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31725"/>
          </a:solidFill>
          <a:ln w="12700">
            <a:solidFill>
              <a:srgbClr val="2A314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9006840" y="1828800"/>
            <a:ext cx="64008" cy="3108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9208008" y="19933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8FC"/>
                </a:solidFill>
              </a:rPr>
              <a:t>SUBAGENTE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08008" y="2395728"/>
            <a:ext cx="2194560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AB1C5"/>
                </a:solidFill>
              </a:rPr>
              <a:t>Realiza la revisión dentro de una tarea mayor y devuelve conclusiones.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8FC"/>
                </a:solidFill>
              </a:rPr>
              <a:t>La diferencia está en autonomía, responsabilidad, reutilización y aislamiento.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663440" y="777240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6D28D9">
              <a:alpha val="88000"/>
            </a:srgbClr>
          </a:solidFill>
          <a:ln w="12700">
            <a:solidFill>
              <a:srgbClr val="6D28D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663440" y="85953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8FC"/>
                </a:solidFill>
              </a:rPr>
              <a:t>TRES IDEAS PARA LLEVARTE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1828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D3EE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37360" y="18653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8FC"/>
                </a:solidFill>
              </a:rPr>
              <a:t>No empieces creando agentes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3042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Primero identifica reglas, procedimientos y responsabilidades.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828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4D399"/>
                </a:solidFill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949440" y="18653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8FC"/>
                </a:solidFill>
              </a:rPr>
              <a:t>Las skills son capacidades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49440" y="23042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Encapsulan conocimiento operativo reutilizable.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337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5CF6"/>
                </a:solidFill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737360" y="33741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8FC"/>
                </a:solidFill>
              </a:rPr>
              <a:t>Los subagentes son orquestación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38130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1C5"/>
                </a:solidFill>
              </a:rPr>
              <a:t>Delegan trabajo temporal sin perder el objetivo global.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800600"/>
            <a:ext cx="10195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8FC"/>
                </a:solidFill>
              </a:rPr>
              <a:t>El futuro no consiste en saber pedir código a una IA.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7F8FC"/>
                </a:solidFill>
              </a:rPr>
              <a:t>Consiste en saber diseñar el equipo, el contexto y los límites con los que esa IA trabaja.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5961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D3EE"/>
                </a:solidFill>
              </a:rPr>
              <a:t>¿Preguntas?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6F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1620</Words>
  <Application>Microsoft Office PowerPoint</Application>
  <PresentationFormat>Panorámica</PresentationFormat>
  <Paragraphs>307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</vt:lpstr>
      <vt:lpstr>Aptos Mono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TenerifeDev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 próximo compañero de equipo será un agente</dc:title>
  <dc:subject>Agentes, skills y subagentes en GitHub Copilot</dc:subject>
  <dc:creator>Santiago Porras Rodríguez</dc:creator>
  <cp:lastModifiedBy>Santiago Porras Rodríguez</cp:lastModifiedBy>
  <cp:revision>4</cp:revision>
  <dcterms:created xsi:type="dcterms:W3CDTF">2026-09-19T00:02:31Z</dcterms:created>
  <dcterms:modified xsi:type="dcterms:W3CDTF">2026-10-16T23:31:27Z</dcterms:modified>
</cp:coreProperties>
</file>